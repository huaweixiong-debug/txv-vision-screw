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007920b6244096" /><Relationship Type="http://schemas.openxmlformats.org/officeDocument/2006/relationships/extended-properties" Target="/docProps/app.xml" Id="R8ea037d59df04fd4" /><Relationship Type="http://schemas.openxmlformats.org/officeDocument/2006/relationships/officeDocument" Target="/ppt/presentation.xml" Id="R222086818f6f44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3b109e04a2420e"/>
  </p:sldMasterIdLst>
  <p:notesMasterIdLst>
    <p:notesMasterId xmlns:r="http://schemas.openxmlformats.org/officeDocument/2006/relationships" r:id="Rb94cad971ac744c9"/>
  </p:notesMasterIdLst>
  <p:sldIdLst>
    <p:sldId xmlns:r="http://schemas.openxmlformats.org/officeDocument/2006/relationships" id="256" r:id="Rcefd2512955f43bd"/>
    <p:sldId xmlns:r="http://schemas.openxmlformats.org/officeDocument/2006/relationships" id="257" r:id="R4b278211f9634583"/>
    <p:sldId xmlns:r="http://schemas.openxmlformats.org/officeDocument/2006/relationships" id="258" r:id="R29f3d2f627514d98"/>
    <p:sldId xmlns:r="http://schemas.openxmlformats.org/officeDocument/2006/relationships" id="259" r:id="Ree52e21b45254b03"/>
    <p:sldId xmlns:r="http://schemas.openxmlformats.org/officeDocument/2006/relationships" id="260" r:id="R1115e9b84a4e421d"/>
    <p:sldId xmlns:r="http://schemas.openxmlformats.org/officeDocument/2006/relationships" id="261" r:id="R2f805596f0a84fbb"/>
    <p:sldId xmlns:r="http://schemas.openxmlformats.org/officeDocument/2006/relationships" id="262" r:id="R9f3b809f1c0444f5"/>
    <p:sldId xmlns:r="http://schemas.openxmlformats.org/officeDocument/2006/relationships" id="263" r:id="Rffefbd02620f463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b109e04a2420e" /><Relationship Type="http://schemas.openxmlformats.org/officeDocument/2006/relationships/theme" Target="/ppt/theme/theme1.xml" Id="R870a9f1e9cc44a71" /><Relationship Type="http://schemas.openxmlformats.org/officeDocument/2006/relationships/notesMaster" Target="/ppt/notesMasters/notesMaster1.xml" Id="Rb94cad971ac744c9" /><Relationship Type="http://schemas.openxmlformats.org/officeDocument/2006/relationships/presProps" Target="/ppt/presProps.xml" Id="R9c2d380a00e14f0c" /><Relationship Type="http://schemas.openxmlformats.org/officeDocument/2006/relationships/viewProps" Target="/ppt/viewProps.xml" Id="R54f4b0fa2bbf4dd1" /><Relationship Type="http://schemas.openxmlformats.org/officeDocument/2006/relationships/tableStyles" Target="/ppt/tableStyles.xml" Id="Redc6f86a2b254be6" /><Relationship Type="http://schemas.openxmlformats.org/officeDocument/2006/relationships/slide" Target="/ppt/slides/slide1.xml" Id="Rcefd2512955f43bd" /><Relationship Type="http://schemas.openxmlformats.org/officeDocument/2006/relationships/slide" Target="/ppt/slides/slide2.xml" Id="R4b278211f9634583" /><Relationship Type="http://schemas.openxmlformats.org/officeDocument/2006/relationships/slide" Target="/ppt/slides/slide3.xml" Id="R29f3d2f627514d98" /><Relationship Type="http://schemas.openxmlformats.org/officeDocument/2006/relationships/slide" Target="/ppt/slides/slide4.xml" Id="Ree52e21b45254b03" /><Relationship Type="http://schemas.openxmlformats.org/officeDocument/2006/relationships/slide" Target="/ppt/slides/slide5.xml" Id="R1115e9b84a4e421d" /><Relationship Type="http://schemas.openxmlformats.org/officeDocument/2006/relationships/slide" Target="/ppt/slides/slide6.xml" Id="R2f805596f0a84fbb" /><Relationship Type="http://schemas.openxmlformats.org/officeDocument/2006/relationships/slide" Target="/ppt/slides/slide7.xml" Id="R9f3b809f1c0444f5" /><Relationship Type="http://schemas.openxmlformats.org/officeDocument/2006/relationships/slide" Target="/ppt/slides/slide8.xml" Id="Rffefbd02620f46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f3e2f5c025042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b5cabc4d1942fe" /><Relationship Type="http://schemas.openxmlformats.org/officeDocument/2006/relationships/notesMaster" Target="/ppt/notesMasters/notesMaster1.xml" Id="R1c11f31e58f149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c3b5d5c30a400b" /><Relationship Type="http://schemas.openxmlformats.org/officeDocument/2006/relationships/notesMaster" Target="/ppt/notesMasters/notesMaster1.xml" Id="Rd73fe6b8e18a4f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2e1948543e4c8f" /><Relationship Type="http://schemas.openxmlformats.org/officeDocument/2006/relationships/notesMaster" Target="/ppt/notesMasters/notesMaster1.xml" Id="Rb10bc05d44e645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ee59467cfe4c27" /><Relationship Type="http://schemas.openxmlformats.org/officeDocument/2006/relationships/notesMaster" Target="/ppt/notesMasters/notesMaster1.xml" Id="Re8ca100309f34d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206926369d4705" /><Relationship Type="http://schemas.openxmlformats.org/officeDocument/2006/relationships/notesMaster" Target="/ppt/notesMasters/notesMaster1.xml" Id="R7327209488c045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669a2153af4773" /><Relationship Type="http://schemas.openxmlformats.org/officeDocument/2006/relationships/notesMaster" Target="/ppt/notesMasters/notesMaster1.xml" Id="Rb0e3dcf2f98c4e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d680cbd9804085" /><Relationship Type="http://schemas.openxmlformats.org/officeDocument/2006/relationships/notesMaster" Target="/ppt/notesMasters/notesMaster1.xml" Id="R29ee771ad8144b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d5929368af4782" /><Relationship Type="http://schemas.openxmlformats.org/officeDocument/2006/relationships/notesMaster" Target="/ppt/notesMasters/notesMaster1.xml" Id="R50cf4af0d36143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c4b93e0b54d6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c71d12f10de471c" /><Relationship Type="http://schemas.openxmlformats.org/officeDocument/2006/relationships/slideLayout" Target="/ppt/slideLayouts/slideLayout2.xml" Id="R8934ee201c974c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34ee201c974c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8e0141649a4410" /><Relationship Type="http://schemas.openxmlformats.org/officeDocument/2006/relationships/notesSlide" Target="/ppt/notesSlides/notesSlide1.xml" Id="R9699c6fe99aa4a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7d2bcd083a44d3" /><Relationship Type="http://schemas.openxmlformats.org/officeDocument/2006/relationships/notesSlide" Target="/ppt/notesSlides/notesSlide2.xml" Id="Ra9895e22367644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ca180cd36b453a" /><Relationship Type="http://schemas.openxmlformats.org/officeDocument/2006/relationships/notesSlide" Target="/ppt/notesSlides/notesSlide3.xml" Id="R76134af4f1e64d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05d86a528c4979" /><Relationship Type="http://schemas.openxmlformats.org/officeDocument/2006/relationships/notesSlide" Target="/ppt/notesSlides/notesSlide4.xml" Id="Rfa76a278ee484f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471d84436b4537" /><Relationship Type="http://schemas.openxmlformats.org/officeDocument/2006/relationships/notesSlide" Target="/ppt/notesSlides/notesSlide5.xml" Id="Rb0ade4948cf144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146ad954904f75" /><Relationship Type="http://schemas.openxmlformats.org/officeDocument/2006/relationships/notesSlide" Target="/ppt/notesSlides/notesSlide6.xml" Id="Rcee4346571ed4e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677c65100b4fe4" /><Relationship Type="http://schemas.openxmlformats.org/officeDocument/2006/relationships/notesSlide" Target="/ppt/notesSlides/notesSlide7.xml" Id="Re8e54e6f04954b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67afabbcbd44b9" /><Relationship Type="http://schemas.openxmlformats.org/officeDocument/2006/relationships/notesSlide" Target="/ppt/notesSlides/notesSlide8.xml" Id="R23a784c9868440a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03BEBA43-F2A6-4392-965F-490501F7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8E8B"/>
                </a:solidFill>
              </a:defRPr>
            </a:pPr>
            <a:r>
              <a:rPr sz="1650" b="1">
                <a:solidFill>
                  <a:srgbClr val="0E8E8B"/>
                </a:solidFill>
              </a:rPr>
              <a:t>KL-GTCS 系列 / MODBUS 汇报摘要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27F70B-0557-4FA1-9DA3-D23C79C9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233B"/>
                </a:solidFill>
              </a:defRPr>
            </a:pPr>
            <a:r>
              <a:rPr sz="4050" b="1">
                <a:solidFill>
                  <a:srgbClr val="11233B"/>
                </a:solidFill>
              </a:rPr>
              <a:t>把 47 页协议说明收敛成 8 个工程结论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3E41E29-A463-47A6-8565-2D8998EB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E8B"/>
          </a:solidFill>
          <a:ln xmlns:a="http://schemas.openxmlformats.org/drawingml/2006/main" w="0">
            <a:solidFill>
              <a:srgbClr val="0E8E8B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0D24BD38-9BD2-4302-9896-A392ECFD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8077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这份演示文稿聚焦集成落地：先明确通信边界，再锁定关键寄存器、控制区、I/O 映射与联调决策，方便自动装配机项目快速推进。</a:t>
            </a:r>
          </a:p>
        </p:txBody>
      </p:sp>
      <p:sp>
        <p:nvSpPr>
          <p:cNvPr id="5" name="metric-原始 PDF 总页数">
            <a:extLst xmlns:a="http://schemas.openxmlformats.org/drawingml/2006/main">
              <a:ext uri="{FF2B5EF4-FFF2-40B4-BE49-F238E27FC236}">
                <a16:creationId xmlns:a16="http://schemas.microsoft.com/office/drawing/2014/main" id="{11EDBD8D-1E0E-43AE-BEAD-B595C2A4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7495"/>
            <a:ext cx="4010025" cy="998220"/>
          </a:xfrm>
          <a:prstGeom xmlns:a="http://schemas.openxmlformats.org/drawingml/2006/main" prst="roundRect">
            <a:avLst>
              <a:gd name="adj" fmla="val 11450"/>
            </a:avLst>
          </a:prstGeom>
          <a:solidFill xmlns:a="http://schemas.openxmlformats.org/drawingml/2006/main">
            <a:srgbClr val="D9F3F2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40E5D-339C-493E-897D-E1E499DB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600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233B"/>
                </a:solidFill>
              </a:defRPr>
            </a:pPr>
            <a:r>
              <a:rPr sz="2700" b="1">
                <a:solidFill>
                  <a:srgbClr val="11233B"/>
                </a:solidFill>
              </a:rPr>
              <a:t>47 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F9870-BEDD-4A7E-B7D0-C6799A4D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627F"/>
                </a:solidFill>
              </a:defRPr>
            </a:pPr>
            <a:r>
              <a:rPr sz="1350">
                <a:solidFill>
                  <a:srgbClr val="4B627F"/>
                </a:solidFill>
              </a:rPr>
              <a:t>原始 PDF 总页数</a:t>
            </a:r>
          </a:p>
        </p:txBody>
      </p:sp>
      <p:sp>
        <p:nvSpPr>
          <p:cNvPr id="8" name="metric-核心功能码">
            <a:extLst xmlns:a="http://schemas.openxmlformats.org/drawingml/2006/main">
              <a:ext uri="{FF2B5EF4-FFF2-40B4-BE49-F238E27FC236}">
                <a16:creationId xmlns:a16="http://schemas.microsoft.com/office/drawing/2014/main" id="{4098728E-6019-4AA9-81A6-6D4D2ABC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817495"/>
            <a:ext cx="4010025" cy="998220"/>
          </a:xfrm>
          <a:prstGeom xmlns:a="http://schemas.openxmlformats.org/drawingml/2006/main" prst="roundRect">
            <a:avLst>
              <a:gd name="adj" fmla="val 11450"/>
            </a:avLst>
          </a:prstGeom>
          <a:solidFill xmlns:a="http://schemas.openxmlformats.org/drawingml/2006/main">
            <a:srgbClr val="D9F3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D810B-8A4A-40C2-ACD0-588A0DA6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3600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233B"/>
                </a:solidFill>
              </a:defRPr>
            </a:pPr>
            <a:r>
              <a:rPr sz="2700" b="1">
                <a:solidFill>
                  <a:srgbClr val="11233B"/>
                </a:solidFill>
              </a:rPr>
              <a:t>0x03 / 0x06 / 0x10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41D6E-2FFB-4552-B196-B57B383D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2900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627F"/>
                </a:solidFill>
              </a:defRPr>
            </a:pPr>
            <a:r>
              <a:rPr sz="1350">
                <a:solidFill>
                  <a:srgbClr val="4B627F"/>
                </a:solidFill>
              </a:rPr>
              <a:t>核心功能码</a:t>
            </a:r>
          </a:p>
        </p:txBody>
      </p:sp>
      <p:sp>
        <p:nvSpPr>
          <p:cNvPr id="11" name="metric-两类通信入口">
            <a:extLst xmlns:a="http://schemas.openxmlformats.org/drawingml/2006/main">
              <a:ext uri="{FF2B5EF4-FFF2-40B4-BE49-F238E27FC236}">
                <a16:creationId xmlns:a16="http://schemas.microsoft.com/office/drawing/2014/main" id="{02302D7E-C27F-4120-8C97-B3972CCA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17495"/>
            <a:ext cx="4010025" cy="998220"/>
          </a:xfrm>
          <a:prstGeom xmlns:a="http://schemas.openxmlformats.org/drawingml/2006/main" prst="roundRect">
            <a:avLst>
              <a:gd name="adj" fmla="val 11450"/>
            </a:avLst>
          </a:prstGeom>
          <a:solidFill xmlns:a="http://schemas.openxmlformats.org/drawingml/2006/main">
            <a:srgbClr val="D9F3F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9FD9A-9475-4503-A1B0-5105D489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90850"/>
            <a:ext cx="3600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233B"/>
                </a:solidFill>
              </a:defRPr>
            </a:pPr>
            <a:r>
              <a:rPr sz="2700" b="1">
                <a:solidFill>
                  <a:srgbClr val="11233B"/>
                </a:solidFill>
              </a:rPr>
              <a:t>TCP / RS-232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3AF86-A352-4B57-BE2A-7DFDCDA4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627F"/>
                </a:solidFill>
              </a:defRPr>
            </a:pPr>
            <a:r>
              <a:rPr sz="1350">
                <a:solidFill>
                  <a:srgbClr val="4B627F"/>
                </a:solidFill>
              </a:rPr>
              <a:t>两类通信入口</a:t>
            </a:r>
          </a:p>
        </p:txBody>
      </p:sp>
      <p:sp>
        <p:nvSpPr>
          <p:cNvPr id="14" name="metric-四个落地关注面">
            <a:extLst xmlns:a="http://schemas.openxmlformats.org/drawingml/2006/main">
              <a:ext uri="{FF2B5EF4-FFF2-40B4-BE49-F238E27FC236}">
                <a16:creationId xmlns:a16="http://schemas.microsoft.com/office/drawing/2014/main" id="{0489B308-5B3D-4B0D-B836-1535ADE0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2817495"/>
            <a:ext cx="4010025" cy="998220"/>
          </a:xfrm>
          <a:prstGeom xmlns:a="http://schemas.openxmlformats.org/drawingml/2006/main" prst="roundRect">
            <a:avLst>
              <a:gd name="adj" fmla="val 11450"/>
            </a:avLst>
          </a:prstGeom>
          <a:solidFill xmlns:a="http://schemas.openxmlformats.org/drawingml/2006/main">
            <a:srgbClr val="D9F3F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AE708-F436-44BA-939B-D12A06FF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2990850"/>
            <a:ext cx="3600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233B"/>
                </a:solidFill>
              </a:defRPr>
            </a:pPr>
            <a:r>
              <a:rPr sz="2700" b="1">
                <a:solidFill>
                  <a:srgbClr val="11233B"/>
                </a:solidFill>
              </a:rPr>
              <a:t>结果 / 状态 / 参数 / I/O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3D9C2-AA7E-4AE4-8FF6-A342AB04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342900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627F"/>
                </a:solidFill>
              </a:defRPr>
            </a:pPr>
            <a:r>
              <a:rPr sz="1350">
                <a:solidFill>
                  <a:srgbClr val="4B627F"/>
                </a:solidFill>
              </a:rPr>
              <a:t>四个落地关注面</a:t>
            </a:r>
          </a:p>
        </p:txBody>
      </p:sp>
      <p:sp>
        <p:nvSpPr>
          <p:cNvPr id="17" name="本次提炼的主线-heading">
            <a:extLst xmlns:a="http://schemas.openxmlformats.org/drawingml/2006/main">
              <a:ext uri="{FF2B5EF4-FFF2-40B4-BE49-F238E27FC236}">
                <a16:creationId xmlns:a16="http://schemas.microsoft.com/office/drawing/2014/main" id="{D9981E85-3B40-417B-A4C9-B908135E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661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8E8B"/>
                </a:solidFill>
              </a:defRPr>
            </a:pPr>
            <a:r>
              <a:rPr sz="2100" b="1">
                <a:solidFill>
                  <a:srgbClr val="0E8E8B"/>
                </a:solidFill>
              </a:rPr>
              <a:t>本次提炼的主线</a:t>
            </a:r>
          </a:p>
        </p:txBody>
      </p:sp>
      <p:sp>
        <p:nvSpPr>
          <p:cNvPr id="18" name="bullet-1">
            <a:extLst xmlns:a="http://schemas.openxmlformats.org/drawingml/2006/main">
              <a:ext uri="{FF2B5EF4-FFF2-40B4-BE49-F238E27FC236}">
                <a16:creationId xmlns:a16="http://schemas.microsoft.com/office/drawing/2014/main" id="{64D29FD1-5587-4762-83DF-CE7C15B8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核心叙事：该文档本质上不是“协议教程”，而是给上位机/PLC 提供完整的读取结果、写入参数与驱动作业流程的地址地图。</a:t>
            </a:r>
          </a:p>
        </p:txBody>
      </p:sp>
      <p:sp>
        <p:nvSpPr>
          <p:cNvPr id="19" name="bullet-2">
            <a:extLst xmlns:a="http://schemas.openxmlformats.org/drawingml/2006/main">
              <a:ext uri="{FF2B5EF4-FFF2-40B4-BE49-F238E27FC236}">
                <a16:creationId xmlns:a16="http://schemas.microsoft.com/office/drawing/2014/main" id="{F41526B5-5DCC-4872-B28B-10123CC3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佐证材料：文档前段定义通信与 PDU，中段给出结果和当前状态寄存器，后段给出标准作业、追锁作业、I/O、条码停止与附录 ASCII 区域。</a:t>
            </a:r>
          </a:p>
        </p:txBody>
      </p:sp>
      <p:sp>
        <p:nvSpPr>
          <p:cNvPr id="20" name="bullet-3">
            <a:extLst xmlns:a="http://schemas.openxmlformats.org/drawingml/2006/main">
              <a:ext uri="{FF2B5EF4-FFF2-40B4-BE49-F238E27FC236}">
                <a16:creationId xmlns:a16="http://schemas.microsoft.com/office/drawing/2014/main" id="{EE5BB09E-3FD2-4110-975B-B2A7FF91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输出目标：让设备集成方知道先接什么、先读什么、哪些参数要先定、联调时如何排风险。</a:t>
            </a:r>
          </a:p>
        </p:txBody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1F10A4C3-5683-4C6B-9FFA-B2700F6C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627F"/>
                </a:solidFill>
              </a:defRPr>
            </a:pPr>
            <a:r>
              <a:rPr sz="900">
                <a:solidFill>
                  <a:srgbClr val="4B627F"/>
                </a:solidFill>
              </a:rPr>
              <a:t>来源：MODBUS_20241227_V1.08(1).pdf，文档版本 V1.08，发布日期 2024/12/25。</a:t>
            </a:r>
          </a:p>
        </p:txBody>
      </p:sp>
    </p:spTree>
    <p:extLst>
      <p:ext uri="{BB962C8B-B14F-4D97-AF65-F5344CB8AC3E}">
        <p14:creationId xmlns:p14="http://schemas.microsoft.com/office/powerpoint/2010/main" val="5827683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C6E0DE7C-C32A-4F41-BA1D-AF1CD44E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8E8B"/>
                </a:solidFill>
              </a:defRPr>
            </a:pPr>
            <a:r>
              <a:rPr sz="1650" b="1">
                <a:solidFill>
                  <a:srgbClr val="0E8E8B"/>
                </a:solidFill>
              </a:rPr>
              <a:t>01 / 文档定位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45A27A-39FD-4D45-89A4-CD9B2A96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233B"/>
                </a:solidFill>
              </a:defRPr>
            </a:pPr>
            <a:r>
              <a:rPr sz="4050" b="1">
                <a:solidFill>
                  <a:srgbClr val="11233B"/>
                </a:solidFill>
              </a:rPr>
              <a:t>先看三件事：支持什么、怎么传、能干什么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AC942F-96E2-48BA-B3E9-CC6D6DB7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E8B"/>
          </a:solidFill>
          <a:ln xmlns:a="http://schemas.openxmlformats.org/drawingml/2006/main" w="0">
            <a:solidFill>
              <a:srgbClr val="0E8E8B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7BC10724-2CEB-4807-BDD3-B9205B69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7258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PDF 前 4 页已经定义了集成边界，后续寄存器表都围绕这三个前提展开。</a:t>
            </a:r>
          </a:p>
        </p:txBody>
      </p:sp>
      <p:sp>
        <p:nvSpPr>
          <p:cNvPr id="5" name="协议能力-heading">
            <a:extLst xmlns:a="http://schemas.openxmlformats.org/drawingml/2006/main">
              <a:ext uri="{FF2B5EF4-FFF2-40B4-BE49-F238E27FC236}">
                <a16:creationId xmlns:a16="http://schemas.microsoft.com/office/drawing/2014/main" id="{BF6466C6-A5AE-458D-8C1C-4A0473D7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819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33B"/>
                </a:solidFill>
              </a:defRPr>
            </a:pPr>
            <a:r>
              <a:rPr sz="2100" b="1">
                <a:solidFill>
                  <a:srgbClr val="11233B"/>
                </a:solidFill>
              </a:rPr>
              <a:t>协议能力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08E698AD-02D8-4E05-AD16-A2495886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819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支持 MODBUS TCP 与 MODBUS RTU，两种模式对应 LAN 与串口接入场景。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065AEDD2-3B3C-4C74-8622-368D6A82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8191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TCP 侧要求控制器设置为 LAN-DHCP 或 LAN-STATIC，并确认 IP / Gateway / Server Port（默认 502）。</a:t>
            </a:r>
          </a:p>
        </p:txBody>
      </p:sp>
      <p:sp>
        <p:nvSpPr>
          <p:cNvPr id="8" name="bullet-3">
            <a:extLst xmlns:a="http://schemas.openxmlformats.org/drawingml/2006/main">
              <a:ext uri="{FF2B5EF4-FFF2-40B4-BE49-F238E27FC236}">
                <a16:creationId xmlns:a16="http://schemas.microsoft.com/office/drawing/2014/main" id="{B49B13DE-9620-4C4C-8615-FE40D8F0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819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RS-232 侧固定参数为 115200 / 8 data bits / 1 stop bit / None / Xon-Xoff。</a:t>
            </a:r>
          </a:p>
        </p:txBody>
      </p:sp>
      <p:sp>
        <p:nvSpPr>
          <p:cNvPr id="9" name="报文规则-heading">
            <a:extLst xmlns:a="http://schemas.openxmlformats.org/drawingml/2006/main">
              <a:ext uri="{FF2B5EF4-FFF2-40B4-BE49-F238E27FC236}">
                <a16:creationId xmlns:a16="http://schemas.microsoft.com/office/drawing/2014/main" id="{8C39603E-9E94-429A-A1CE-A3F81D87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52700"/>
            <a:ext cx="788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8E8B"/>
                </a:solidFill>
              </a:defRPr>
            </a:pPr>
            <a:r>
              <a:rPr sz="2100" b="1">
                <a:solidFill>
                  <a:srgbClr val="0E8E8B"/>
                </a:solidFill>
              </a:rPr>
              <a:t>报文规则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4CE570CB-ED16-483D-90B4-21937785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0850"/>
            <a:ext cx="7886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数据格式采用 Big-Endian。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B8E498B9-FAA9-4D3C-AD42-F705F8A8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71850"/>
            <a:ext cx="7886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读取以 Read Holding Registers 为主。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97CAD4AF-E260-4421-803A-EF02B217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33800"/>
            <a:ext cx="7886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写入支持 Write Single Register 与 Write Multiple Registers；ASCII 多寄存器写入尤其关键。</a:t>
            </a:r>
          </a:p>
        </p:txBody>
      </p:sp>
      <p:sp>
        <p:nvSpPr>
          <p:cNvPr id="13" name="这意味着什么-heading">
            <a:extLst xmlns:a="http://schemas.openxmlformats.org/drawingml/2006/main">
              <a:ext uri="{FF2B5EF4-FFF2-40B4-BE49-F238E27FC236}">
                <a16:creationId xmlns:a16="http://schemas.microsoft.com/office/drawing/2014/main" id="{4679B6F1-4E61-4364-B951-6771C1DC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1661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5F45"/>
                </a:solidFill>
              </a:defRPr>
            </a:pPr>
            <a:r>
              <a:rPr sz="2100" b="1">
                <a:solidFill>
                  <a:srgbClr val="D95F45"/>
                </a:solidFill>
              </a:rPr>
              <a:t>这意味着什么</a:t>
            </a:r>
          </a:p>
        </p:txBody>
      </p:sp>
      <p:sp>
        <p:nvSpPr>
          <p:cNvPr id="14" name="bullet-1">
            <a:extLst xmlns:a="http://schemas.openxmlformats.org/drawingml/2006/main">
              <a:ext uri="{FF2B5EF4-FFF2-40B4-BE49-F238E27FC236}">
                <a16:creationId xmlns:a16="http://schemas.microsoft.com/office/drawing/2014/main" id="{2ABD7649-1F1A-4E73-A2DB-2254B9B1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5F45"/>
                </a:solidFill>
              </a:defRPr>
            </a:pPr>
            <a:r>
              <a:rPr sz="1800">
                <a:solidFill>
                  <a:srgbClr val="D95F45"/>
                </a:solidFill>
              </a:rPr>
              <a:t>• 上位机侧优先把“网络模式 or 串口模式”作为第一拍板项，否则后续地址打通没有意义。</a:t>
            </a:r>
          </a:p>
        </p:txBody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303649B8-1BEE-4C0E-9038-D5BEC1BD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5F45"/>
                </a:solidFill>
              </a:defRPr>
            </a:pPr>
            <a:r>
              <a:rPr sz="1800">
                <a:solidFill>
                  <a:srgbClr val="D95F45"/>
                </a:solidFill>
              </a:rPr>
              <a:t>• 由于 ASCII 字段和多寄存器参数大量存在，接口层最好封装统一的字串写入、单位换算和大端序处理。</a:t>
            </a:r>
          </a:p>
        </p:txBody>
      </p:sp>
      <p:sp>
        <p:nvSpPr>
          <p:cNvPr id="16" name="source">
            <a:extLst xmlns:a="http://schemas.openxmlformats.org/drawingml/2006/main">
              <a:ext uri="{FF2B5EF4-FFF2-40B4-BE49-F238E27FC236}">
                <a16:creationId xmlns:a16="http://schemas.microsoft.com/office/drawing/2014/main" id="{CEE19DCA-3D9B-4DE9-A2C3-8F89CB0B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2455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627F"/>
                </a:solidFill>
              </a:defRPr>
            </a:pPr>
            <a:r>
              <a:rPr sz="900">
                <a:solidFill>
                  <a:srgbClr val="4B627F"/>
                </a:solidFill>
              </a:rPr>
              <a:t>来源：MODBUS_20241227_V1.08(1).pdf，文档版本 V1.08，发布日期 2024/12/25。 主要依据：目录页、通信设定页、MODBUS 资料格式页。</a:t>
            </a:r>
          </a:p>
        </p:txBody>
      </p:sp>
    </p:spTree>
    <p:extLst>
      <p:ext uri="{BB962C8B-B14F-4D97-AF65-F5344CB8AC3E}">
        <p14:creationId xmlns:p14="http://schemas.microsoft.com/office/powerpoint/2010/main" val="3795190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B0609E1-78D2-4B23-BB0F-1FCD16E9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8E8B"/>
                </a:solidFill>
              </a:defRPr>
            </a:pPr>
            <a:r>
              <a:rPr sz="1650" b="1">
                <a:solidFill>
                  <a:srgbClr val="0E8E8B"/>
                </a:solidFill>
              </a:rPr>
              <a:t>02 / 读取面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7D2717-311F-49E0-B32C-B990105B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233B"/>
                </a:solidFill>
              </a:defRPr>
            </a:pPr>
            <a:r>
              <a:rPr sz="4050" b="1">
                <a:solidFill>
                  <a:srgbClr val="11233B"/>
                </a:solidFill>
              </a:rPr>
              <a:t>结果寄存器是第一优先级，因为它决定设备是否能被正确接管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5595BDE-D151-41EA-9873-62E2A044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E8B"/>
          </a:solidFill>
          <a:ln xmlns:a="http://schemas.openxmlformats.org/drawingml/2006/main" w="0">
            <a:solidFill>
              <a:srgbClr val="0E8E8B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895EC8A-223A-4C5A-9745-5BE3ADD7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2782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4.1 节给的是最直接、最适合联调初期验证的一组地址：时间戳、工具身份、程序号、目标类型、扭力/角度、结果码与报警码。</a:t>
            </a:r>
          </a:p>
        </p:txBody>
      </p:sp>
      <p:sp>
        <p:nvSpPr>
          <p:cNvPr id="5" name="header-1">
            <a:extLst xmlns:a="http://schemas.openxmlformats.org/drawingml/2006/main">
              <a:ext uri="{FF2B5EF4-FFF2-40B4-BE49-F238E27FC236}">
                <a16:creationId xmlns:a16="http://schemas.microsoft.com/office/drawing/2014/main" id="{276F2B54-8D1F-4B5D-BA58-1C6EC18E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8E8B"/>
                </a:solidFill>
              </a:defRPr>
            </a:pPr>
            <a:r>
              <a:rPr sz="1500" b="1">
                <a:solidFill>
                  <a:srgbClr val="0E8E8B"/>
                </a:solidFill>
              </a:rPr>
              <a:t>读取主题</a:t>
            </a:r>
          </a:p>
        </p:txBody>
      </p:sp>
      <p:sp>
        <p:nvSpPr>
          <p:cNvPr id="6" name="header-2">
            <a:extLst xmlns:a="http://schemas.openxmlformats.org/drawingml/2006/main">
              <a:ext uri="{FF2B5EF4-FFF2-40B4-BE49-F238E27FC236}">
                <a16:creationId xmlns:a16="http://schemas.microsoft.com/office/drawing/2014/main" id="{476AD247-8CEA-457B-A70F-AABCE940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1940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8E8B"/>
                </a:solidFill>
              </a:defRPr>
            </a:pPr>
            <a:r>
              <a:rPr sz="1500" b="1">
                <a:solidFill>
                  <a:srgbClr val="0E8E8B"/>
                </a:solidFill>
              </a:rPr>
              <a:t>典型地址</a:t>
            </a:r>
          </a:p>
        </p:txBody>
      </p:sp>
      <p:sp>
        <p:nvSpPr>
          <p:cNvPr id="7" name="header-3">
            <a:extLst xmlns:a="http://schemas.openxmlformats.org/drawingml/2006/main">
              <a:ext uri="{FF2B5EF4-FFF2-40B4-BE49-F238E27FC236}">
                <a16:creationId xmlns:a16="http://schemas.microsoft.com/office/drawing/2014/main" id="{CDAFDB9D-26B0-450B-9562-7B3ACAA4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194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8E8B"/>
                </a:solidFill>
              </a:defRPr>
            </a:pPr>
            <a:r>
              <a:rPr sz="1500" b="1">
                <a:solidFill>
                  <a:srgbClr val="0E8E8B"/>
                </a:solidFill>
              </a:rPr>
              <a:t>作用</a:t>
            </a:r>
          </a:p>
        </p:txBody>
      </p:sp>
      <p:sp>
        <p:nvSpPr>
          <p:cNvPr id="8" name="header-4">
            <a:extLst xmlns:a="http://schemas.openxmlformats.org/drawingml/2006/main">
              <a:ext uri="{FF2B5EF4-FFF2-40B4-BE49-F238E27FC236}">
                <a16:creationId xmlns:a16="http://schemas.microsoft.com/office/drawing/2014/main" id="{01411CB3-D159-4C62-886D-B8030F5B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81940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8E8B"/>
                </a:solidFill>
              </a:defRPr>
            </a:pPr>
            <a:r>
              <a:rPr sz="1500" b="1">
                <a:solidFill>
                  <a:srgbClr val="0E8E8B"/>
                </a:solidFill>
              </a:rPr>
              <a:t>集成意义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B8350BF-AF59-4A90-A057-611711C4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1661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E8B"/>
          </a:solidFill>
          <a:ln xmlns:a="http://schemas.openxmlformats.org/drawingml/2006/main" w="0">
            <a:solidFill>
              <a:srgbClr val="0E8E8B"/>
            </a:solidFill>
            <a:prstDash val="solid"/>
          </a:ln>
        </p:spPr>
      </p:sp>
      <p:sp>
        <p:nvSpPr>
          <p:cNvPr id="10" name="row-1-cell-1">
            <a:extLst xmlns:a="http://schemas.openxmlformats.org/drawingml/2006/main">
              <a:ext uri="{FF2B5EF4-FFF2-40B4-BE49-F238E27FC236}">
                <a16:creationId xmlns:a16="http://schemas.microsoft.com/office/drawing/2014/main" id="{140A38C2-FBFD-40FA-BABE-74EB232B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33B"/>
                </a:solidFill>
              </a:defRPr>
            </a:pPr>
            <a:r>
              <a:rPr sz="1575" b="1">
                <a:solidFill>
                  <a:srgbClr val="11233B"/>
                </a:solidFill>
              </a:rPr>
              <a:t>结果时间</a:t>
            </a:r>
          </a:p>
        </p:txBody>
      </p:sp>
      <p:sp>
        <p:nvSpPr>
          <p:cNvPr id="11" name="row-1-cell-2">
            <a:extLst xmlns:a="http://schemas.openxmlformats.org/drawingml/2006/main">
              <a:ext uri="{FF2B5EF4-FFF2-40B4-BE49-F238E27FC236}">
                <a16:creationId xmlns:a16="http://schemas.microsoft.com/office/drawing/2014/main" id="{3DA26C99-C18D-49F4-9704-1D572645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9565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0x1000–0x1005</a:t>
            </a:r>
          </a:p>
        </p:txBody>
      </p:sp>
      <p:sp>
        <p:nvSpPr>
          <p:cNvPr id="12" name="row-1-cell-3">
            <a:extLst xmlns:a="http://schemas.openxmlformats.org/drawingml/2006/main">
              <a:ext uri="{FF2B5EF4-FFF2-40B4-BE49-F238E27FC236}">
                <a16:creationId xmlns:a16="http://schemas.microsoft.com/office/drawing/2014/main" id="{305D3D6B-B999-4D9E-BCD4-4A853A5F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956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年 / 月 / 日 / 时 / 分 / 秒</a:t>
            </a:r>
          </a:p>
        </p:txBody>
      </p:sp>
      <p:sp>
        <p:nvSpPr>
          <p:cNvPr id="13" name="row-1-cell-4">
            <a:extLst xmlns:a="http://schemas.openxmlformats.org/drawingml/2006/main">
              <a:ext uri="{FF2B5EF4-FFF2-40B4-BE49-F238E27FC236}">
                <a16:creationId xmlns:a16="http://schemas.microsoft.com/office/drawing/2014/main" id="{A49B9D73-FAE5-468F-9EEE-44872434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29565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用于追溯每次锁附的时间基线</a:t>
            </a:r>
          </a:p>
        </p:txBody>
      </p:sp>
      <p:sp>
        <p:nvSpPr>
          <p:cNvPr id="14" name="row-rule-1">
            <a:extLst xmlns:a="http://schemas.openxmlformats.org/drawingml/2006/main">
              <a:ext uri="{FF2B5EF4-FFF2-40B4-BE49-F238E27FC236}">
                <a16:creationId xmlns:a16="http://schemas.microsoft.com/office/drawing/2014/main" id="{612E7967-07C1-4F54-A50D-8C54BE7F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661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15" name="row-2-cell-1">
            <a:extLst xmlns:a="http://schemas.openxmlformats.org/drawingml/2006/main">
              <a:ext uri="{FF2B5EF4-FFF2-40B4-BE49-F238E27FC236}">
                <a16:creationId xmlns:a16="http://schemas.microsoft.com/office/drawing/2014/main" id="{DF1C1261-963B-4B45-BB21-50D4DBC1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33B"/>
                </a:solidFill>
              </a:defRPr>
            </a:pPr>
            <a:r>
              <a:rPr sz="1575" b="1">
                <a:solidFill>
                  <a:srgbClr val="11233B"/>
                </a:solidFill>
              </a:rPr>
              <a:t>设备身份</a:t>
            </a:r>
          </a:p>
        </p:txBody>
      </p:sp>
      <p:sp>
        <p:nvSpPr>
          <p:cNvPr id="16" name="row-2-cell-2">
            <a:extLst xmlns:a="http://schemas.openxmlformats.org/drawingml/2006/main">
              <a:ext uri="{FF2B5EF4-FFF2-40B4-BE49-F238E27FC236}">
                <a16:creationId xmlns:a16="http://schemas.microsoft.com/office/drawing/2014/main" id="{3FE32864-4C53-46F5-A5FC-7C20E443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7190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0x1006–0x102A</a:t>
            </a:r>
          </a:p>
        </p:txBody>
      </p:sp>
      <p:sp>
        <p:nvSpPr>
          <p:cNvPr id="17" name="row-2-cell-3">
            <a:extLst xmlns:a="http://schemas.openxmlformats.org/drawingml/2006/main">
              <a:ext uri="{FF2B5EF4-FFF2-40B4-BE49-F238E27FC236}">
                <a16:creationId xmlns:a16="http://schemas.microsoft.com/office/drawing/2014/main" id="{0F30D658-E4E3-43FB-970A-CC510F38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719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控制器序号、起子型号/序号、工作/工序名称 ASCII</a:t>
            </a:r>
          </a:p>
        </p:txBody>
      </p:sp>
      <p:sp>
        <p:nvSpPr>
          <p:cNvPr id="18" name="row-2-cell-4">
            <a:extLst xmlns:a="http://schemas.openxmlformats.org/drawingml/2006/main">
              <a:ext uri="{FF2B5EF4-FFF2-40B4-BE49-F238E27FC236}">
                <a16:creationId xmlns:a16="http://schemas.microsoft.com/office/drawing/2014/main" id="{1CBF50D2-0EA9-420C-9CB7-EBE6C6B6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77190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用于人机界面、日志、追溯系统对号</a:t>
            </a:r>
          </a:p>
        </p:txBody>
      </p:sp>
      <p:sp>
        <p:nvSpPr>
          <p:cNvPr id="19" name="row-rule-2">
            <a:extLst xmlns:a="http://schemas.openxmlformats.org/drawingml/2006/main">
              <a:ext uri="{FF2B5EF4-FFF2-40B4-BE49-F238E27FC236}">
                <a16:creationId xmlns:a16="http://schemas.microsoft.com/office/drawing/2014/main" id="{E9D97831-37BC-44EF-AB4D-51E649F4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1661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0" name="row-3-cell-1">
            <a:extLst xmlns:a="http://schemas.openxmlformats.org/drawingml/2006/main">
              <a:ext uri="{FF2B5EF4-FFF2-40B4-BE49-F238E27FC236}">
                <a16:creationId xmlns:a16="http://schemas.microsoft.com/office/drawing/2014/main" id="{6AC2BE66-0AA9-4698-AE03-7BFAD9B6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33B"/>
                </a:solidFill>
              </a:defRPr>
            </a:pPr>
            <a:r>
              <a:rPr sz="1575" b="1">
                <a:solidFill>
                  <a:srgbClr val="11233B"/>
                </a:solidFill>
              </a:rPr>
              <a:t>程序上下文</a:t>
            </a:r>
          </a:p>
        </p:txBody>
      </p:sp>
      <p:sp>
        <p:nvSpPr>
          <p:cNvPr id="21" name="row-3-cell-2">
            <a:extLst xmlns:a="http://schemas.openxmlformats.org/drawingml/2006/main">
              <a:ext uri="{FF2B5EF4-FFF2-40B4-BE49-F238E27FC236}">
                <a16:creationId xmlns:a16="http://schemas.microsoft.com/office/drawing/2014/main" id="{F6D11464-A144-4A21-9300-511CAE42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4815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0x1034–0x1043</a:t>
            </a:r>
          </a:p>
        </p:txBody>
      </p:sp>
      <p:sp>
        <p:nvSpPr>
          <p:cNvPr id="22" name="row-3-cell-3">
            <a:extLst xmlns:a="http://schemas.openxmlformats.org/drawingml/2006/main">
              <a:ext uri="{FF2B5EF4-FFF2-40B4-BE49-F238E27FC236}">
                <a16:creationId xmlns:a16="http://schemas.microsoft.com/office/drawing/2014/main" id="{1C03AD98-BB09-41CA-8666-715E5617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481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工作号、工序号、步骤号、方向、目标类型、单位、计数方式</a:t>
            </a:r>
          </a:p>
        </p:txBody>
      </p:sp>
      <p:sp>
        <p:nvSpPr>
          <p:cNvPr id="23" name="row-3-cell-4">
            <a:extLst xmlns:a="http://schemas.openxmlformats.org/drawingml/2006/main">
              <a:ext uri="{FF2B5EF4-FFF2-40B4-BE49-F238E27FC236}">
                <a16:creationId xmlns:a16="http://schemas.microsoft.com/office/drawing/2014/main" id="{AD9F4461-38AE-43D7-9124-589368A1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24815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判断当下机器正在执行哪一段工艺</a:t>
            </a:r>
          </a:p>
        </p:txBody>
      </p:sp>
      <p:sp>
        <p:nvSpPr>
          <p:cNvPr id="24" name="row-rule-3">
            <a:extLst xmlns:a="http://schemas.openxmlformats.org/drawingml/2006/main">
              <a:ext uri="{FF2B5EF4-FFF2-40B4-BE49-F238E27FC236}">
                <a16:creationId xmlns:a16="http://schemas.microsoft.com/office/drawing/2014/main" id="{B10F08EB-A916-4196-B0E9-5EC2C576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1661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5" name="row-4-cell-1">
            <a:extLst xmlns:a="http://schemas.openxmlformats.org/drawingml/2006/main">
              <a:ext uri="{FF2B5EF4-FFF2-40B4-BE49-F238E27FC236}">
                <a16:creationId xmlns:a16="http://schemas.microsoft.com/office/drawing/2014/main" id="{90BBADD1-F8A3-454F-8CDE-9807AA20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33B"/>
                </a:solidFill>
              </a:defRPr>
            </a:pPr>
            <a:r>
              <a:rPr sz="1575" b="1">
                <a:solidFill>
                  <a:srgbClr val="11233B"/>
                </a:solidFill>
              </a:rPr>
              <a:t>结果判定</a:t>
            </a:r>
          </a:p>
        </p:txBody>
      </p:sp>
      <p:sp>
        <p:nvSpPr>
          <p:cNvPr id="26" name="row-4-cell-2">
            <a:extLst xmlns:a="http://schemas.openxmlformats.org/drawingml/2006/main">
              <a:ext uri="{FF2B5EF4-FFF2-40B4-BE49-F238E27FC236}">
                <a16:creationId xmlns:a16="http://schemas.microsoft.com/office/drawing/2014/main" id="{4B526A06-E8EF-48FC-945A-1D4E996E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2440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0x1044</a:t>
            </a:r>
          </a:p>
        </p:txBody>
      </p:sp>
      <p:sp>
        <p:nvSpPr>
          <p:cNvPr id="27" name="row-4-cell-3">
            <a:extLst xmlns:a="http://schemas.openxmlformats.org/drawingml/2006/main">
              <a:ext uri="{FF2B5EF4-FFF2-40B4-BE49-F238E27FC236}">
                <a16:creationId xmlns:a16="http://schemas.microsoft.com/office/drawing/2014/main" id="{8D3E16EB-89FD-4E3E-89E6-99938B91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244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REVERSE / OK / OK-SEQ / OK-JOB / NG / NS</a:t>
            </a:r>
          </a:p>
        </p:txBody>
      </p:sp>
      <p:sp>
        <p:nvSpPr>
          <p:cNvPr id="28" name="row-4-cell-4">
            <a:extLst xmlns:a="http://schemas.openxmlformats.org/drawingml/2006/main">
              <a:ext uri="{FF2B5EF4-FFF2-40B4-BE49-F238E27FC236}">
                <a16:creationId xmlns:a16="http://schemas.microsoft.com/office/drawing/2014/main" id="{61119DF1-7108-4A95-AB73-EC196ADB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2440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上位机可直接据此触发放行、停机或重试</a:t>
            </a:r>
          </a:p>
        </p:txBody>
      </p:sp>
      <p:sp>
        <p:nvSpPr>
          <p:cNvPr id="29" name="row-rule-4">
            <a:extLst xmlns:a="http://schemas.openxmlformats.org/drawingml/2006/main">
              <a:ext uri="{FF2B5EF4-FFF2-40B4-BE49-F238E27FC236}">
                <a16:creationId xmlns:a16="http://schemas.microsoft.com/office/drawing/2014/main" id="{B23C4DCD-309E-40BB-9A2B-E687C536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1661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30" name="row-5-cell-1">
            <a:extLst xmlns:a="http://schemas.openxmlformats.org/drawingml/2006/main">
              <a:ext uri="{FF2B5EF4-FFF2-40B4-BE49-F238E27FC236}">
                <a16:creationId xmlns:a16="http://schemas.microsoft.com/office/drawing/2014/main" id="{5C180830-63DF-421C-B249-B34D158B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33B"/>
                </a:solidFill>
              </a:defRPr>
            </a:pPr>
            <a:r>
              <a:rPr sz="1575" b="1">
                <a:solidFill>
                  <a:srgbClr val="11233B"/>
                </a:solidFill>
              </a:rPr>
              <a:t>报警信息</a:t>
            </a:r>
          </a:p>
        </p:txBody>
      </p:sp>
      <p:sp>
        <p:nvSpPr>
          <p:cNvPr id="31" name="row-5-cell-2">
            <a:extLst xmlns:a="http://schemas.openxmlformats.org/drawingml/2006/main">
              <a:ext uri="{FF2B5EF4-FFF2-40B4-BE49-F238E27FC236}">
                <a16:creationId xmlns:a16="http://schemas.microsoft.com/office/drawing/2014/main" id="{C30BD433-9A54-49B2-B7D1-34DFFF98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0065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0x1048</a:t>
            </a:r>
          </a:p>
        </p:txBody>
      </p:sp>
      <p:sp>
        <p:nvSpPr>
          <p:cNvPr id="32" name="row-5-cell-3">
            <a:extLst xmlns:a="http://schemas.openxmlformats.org/drawingml/2006/main">
              <a:ext uri="{FF2B5EF4-FFF2-40B4-BE49-F238E27FC236}">
                <a16:creationId xmlns:a16="http://schemas.microsoft.com/office/drawing/2014/main" id="{3B6AB56F-B9A8-48BE-B73E-294D87FB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006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控制器、马达、过扭、超时、角度异常、通信异常等</a:t>
            </a:r>
          </a:p>
        </p:txBody>
      </p:sp>
      <p:sp>
        <p:nvSpPr>
          <p:cNvPr id="33" name="row-5-cell-4">
            <a:extLst xmlns:a="http://schemas.openxmlformats.org/drawingml/2006/main">
              <a:ext uri="{FF2B5EF4-FFF2-40B4-BE49-F238E27FC236}">
                <a16:creationId xmlns:a16="http://schemas.microsoft.com/office/drawing/2014/main" id="{EE3DBCFD-6D66-403C-9077-098BECE3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20065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是异常处置和维保定位的主入口</a:t>
            </a:r>
          </a:p>
        </p:txBody>
      </p:sp>
      <p:sp>
        <p:nvSpPr>
          <p:cNvPr id="34" name="row-rule-5">
            <a:extLst xmlns:a="http://schemas.openxmlformats.org/drawingml/2006/main">
              <a:ext uri="{FF2B5EF4-FFF2-40B4-BE49-F238E27FC236}">
                <a16:creationId xmlns:a16="http://schemas.microsoft.com/office/drawing/2014/main" id="{82BAB58C-A322-497E-B0B9-FCD11094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661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35" name="联调建议-heading">
            <a:extLst xmlns:a="http://schemas.openxmlformats.org/drawingml/2006/main">
              <a:ext uri="{FF2B5EF4-FFF2-40B4-BE49-F238E27FC236}">
                <a16:creationId xmlns:a16="http://schemas.microsoft.com/office/drawing/2014/main" id="{25AE22BB-7C91-4257-90F9-D068DE6F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661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8E8B"/>
                </a:solidFill>
              </a:defRPr>
            </a:pPr>
            <a:r>
              <a:rPr sz="2100" b="1">
                <a:solidFill>
                  <a:srgbClr val="0E8E8B"/>
                </a:solidFill>
              </a:rPr>
              <a:t>联调建议</a:t>
            </a:r>
          </a:p>
        </p:txBody>
      </p:sp>
      <p:sp>
        <p:nvSpPr>
          <p:cNvPr id="36" name="bullet-1">
            <a:extLst xmlns:a="http://schemas.openxmlformats.org/drawingml/2006/main">
              <a:ext uri="{FF2B5EF4-FFF2-40B4-BE49-F238E27FC236}">
                <a16:creationId xmlns:a16="http://schemas.microsoft.com/office/drawing/2014/main" id="{59490B65-0293-4BDD-8970-9B444350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第一阶段只做“读”：确认读到的时间、工具身份、当前作业号和结果码是否稳定变化。</a:t>
            </a:r>
          </a:p>
        </p:txBody>
      </p:sp>
      <p:sp>
        <p:nvSpPr>
          <p:cNvPr id="37" name="bullet-2">
            <a:extLst xmlns:a="http://schemas.openxmlformats.org/drawingml/2006/main">
              <a:ext uri="{FF2B5EF4-FFF2-40B4-BE49-F238E27FC236}">
                <a16:creationId xmlns:a16="http://schemas.microsoft.com/office/drawing/2014/main" id="{567F8174-E37B-4391-ADB8-70F90B60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结果码 0x1044 与报警码 0x1048 应直接进入设备事件日志，这是最小可用追溯闭环。</a:t>
            </a:r>
          </a:p>
        </p:txBody>
      </p:sp>
      <p:sp>
        <p:nvSpPr>
          <p:cNvPr id="38" name="source">
            <a:extLst xmlns:a="http://schemas.openxmlformats.org/drawingml/2006/main">
              <a:ext uri="{FF2B5EF4-FFF2-40B4-BE49-F238E27FC236}">
                <a16:creationId xmlns:a16="http://schemas.microsoft.com/office/drawing/2014/main" id="{35960B1A-0C6A-41B9-B6AE-1AA75DB6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0090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627F"/>
                </a:solidFill>
              </a:defRPr>
            </a:pPr>
            <a:r>
              <a:rPr sz="900">
                <a:solidFill>
                  <a:srgbClr val="4B627F"/>
                </a:solidFill>
              </a:rPr>
              <a:t>来源：MODBUS_20241227_V1.08(1).pdf，文档版本 V1.08，发布日期 2024/12/25。 重点来源：4.1 锁附结果资料页。</a:t>
            </a:r>
          </a:p>
        </p:txBody>
      </p:sp>
    </p:spTree>
    <p:extLst>
      <p:ext uri="{BB962C8B-B14F-4D97-AF65-F5344CB8AC3E}">
        <p14:creationId xmlns:p14="http://schemas.microsoft.com/office/powerpoint/2010/main" val="20161048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4EEB7959-60EF-4BFC-8F9D-E9FDFA9D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8E8B"/>
                </a:solidFill>
              </a:defRPr>
            </a:pPr>
            <a:r>
              <a:rPr sz="1650" b="1">
                <a:solidFill>
                  <a:srgbClr val="0E8E8B"/>
                </a:solidFill>
              </a:rPr>
              <a:t>03 / 状态面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DCC5EF-05CD-4F51-9108-A50BC693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233B"/>
                </a:solidFill>
              </a:defRPr>
            </a:pPr>
            <a:r>
              <a:rPr sz="4050" b="1">
                <a:solidFill>
                  <a:srgbClr val="11233B"/>
                </a:solidFill>
              </a:rPr>
              <a:t>“结果”告诉我们刚刚发生了什么，“当前状态”告诉我们现在能不能继续动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1A22A3F-40A1-4027-BA4B-CC12D575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E8B"/>
          </a:solidFill>
          <a:ln xmlns:a="http://schemas.openxmlformats.org/drawingml/2006/main" w="0">
            <a:solidFill>
              <a:srgbClr val="0E8E8B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FE3B570-12BF-448D-BAD7-D06FD1F9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1658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目录显示 4.4 节专门定义控制器目前状态、目前起子状态、目前控制器设定等区块，适合作为上位机的实时看板和互锁判定输入。</a:t>
            </a:r>
          </a:p>
        </p:txBody>
      </p:sp>
      <p:sp>
        <p:nvSpPr>
          <p:cNvPr id="5" name="建议实时轮询的状态项-heading">
            <a:extLst xmlns:a="http://schemas.openxmlformats.org/drawingml/2006/main">
              <a:ext uri="{FF2B5EF4-FFF2-40B4-BE49-F238E27FC236}">
                <a16:creationId xmlns:a16="http://schemas.microsoft.com/office/drawing/2014/main" id="{24D78B4B-9866-4BF4-9DAD-B38BFF77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803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33B"/>
                </a:solidFill>
              </a:defRPr>
            </a:pPr>
            <a:r>
              <a:rPr sz="2100" b="1">
                <a:solidFill>
                  <a:srgbClr val="11233B"/>
                </a:solidFill>
              </a:rPr>
              <a:t>建议实时轮询的状态项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AE69C164-9F92-4083-9A6A-EBE0A2A7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目前工作状态：判断设备是待机、运行、完成、异常还是停机。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5973B447-A61C-4751-A464-22810022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目前步骤/程序：联动装配机工位节拍，确认工具端与工艺端是否同拍。</a:t>
            </a:r>
          </a:p>
        </p:txBody>
      </p:sp>
      <p:sp>
        <p:nvSpPr>
          <p:cNvPr id="8" name="bullet-3">
            <a:extLst xmlns:a="http://schemas.openxmlformats.org/drawingml/2006/main">
              <a:ext uri="{FF2B5EF4-FFF2-40B4-BE49-F238E27FC236}">
                <a16:creationId xmlns:a16="http://schemas.microsoft.com/office/drawing/2014/main" id="{AAE2BB11-B5CB-4933-A44D-B52345D8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目前起子状态：是否 enable、是否可执行、是否有错误锁存。</a:t>
            </a:r>
          </a:p>
        </p:txBody>
      </p:sp>
      <p:sp>
        <p:nvSpPr>
          <p:cNvPr id="9" name="bullet-4">
            <a:extLst xmlns:a="http://schemas.openxmlformats.org/drawingml/2006/main">
              <a:ext uri="{FF2B5EF4-FFF2-40B4-BE49-F238E27FC236}">
                <a16:creationId xmlns:a16="http://schemas.microsoft.com/office/drawing/2014/main" id="{61DFEE1B-847D-4108-B587-DCDA201C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8039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目前控制器设定：把当前设定值回读出来，避免“写入成功但设备未切换”这种假成功。</a:t>
            </a:r>
          </a:p>
        </p:txBody>
      </p:sp>
      <p:sp>
        <p:nvSpPr>
          <p:cNvPr id="10" name="为什么这一层重要-heading">
            <a:extLst xmlns:a="http://schemas.openxmlformats.org/drawingml/2006/main">
              <a:ext uri="{FF2B5EF4-FFF2-40B4-BE49-F238E27FC236}">
                <a16:creationId xmlns:a16="http://schemas.microsoft.com/office/drawing/2014/main" id="{725B2F1A-F3F4-4713-9184-08A81D0C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19400"/>
            <a:ext cx="803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8E8B"/>
                </a:solidFill>
              </a:defRPr>
            </a:pPr>
            <a:r>
              <a:rPr sz="2100" b="1">
                <a:solidFill>
                  <a:srgbClr val="0E8E8B"/>
                </a:solidFill>
              </a:rPr>
              <a:t>为什么这一层重要</a:t>
            </a:r>
          </a:p>
        </p:txBody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46ABA825-1222-4ADF-92E1-E346C3C6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76600"/>
            <a:ext cx="8039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只读结果码不够，因为异常常常发生在动作前或动作中，当前状态能提前拦截。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6AD66B98-564F-4105-BC75-E28E96B2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24300"/>
            <a:ext cx="8039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自动装配线若要做节拍互锁，最可靠的输入不是页面显示，而是 MODBUS 的当前状态位与当前作业上下文。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481E967B-FCF1-4A5B-A430-41B6EF80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5295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建议把当前状态与结果状态分成两条事件流：一条实时互锁，一条历史追溯。</a:t>
            </a:r>
          </a:p>
        </p:txBody>
      </p:sp>
      <p:sp>
        <p:nvSpPr>
          <p:cNvPr id="14" name="决策项-heading">
            <a:extLst xmlns:a="http://schemas.openxmlformats.org/drawingml/2006/main">
              <a:ext uri="{FF2B5EF4-FFF2-40B4-BE49-F238E27FC236}">
                <a16:creationId xmlns:a16="http://schemas.microsoft.com/office/drawing/2014/main" id="{C0EEBAE0-9F92-4C85-8516-4248D162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1661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5F45"/>
                </a:solidFill>
              </a:defRPr>
            </a:pPr>
            <a:r>
              <a:rPr sz="2100" b="1">
                <a:solidFill>
                  <a:srgbClr val="D95F45"/>
                </a:solidFill>
              </a:rPr>
              <a:t>决策项</a:t>
            </a:r>
          </a:p>
        </p:txBody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64C175B5-472C-42FC-9D08-223D9090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2455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5F45"/>
                </a:solidFill>
              </a:defRPr>
            </a:pPr>
            <a:r>
              <a:rPr sz="1800">
                <a:solidFill>
                  <a:srgbClr val="D95F45"/>
                </a:solidFill>
              </a:rPr>
              <a:t>• 决定轮询周期：建议把状态轮询与结果读取解耦，状态更高频，结果按动作结束触发补读。</a:t>
            </a:r>
          </a:p>
        </p:txBody>
      </p:sp>
      <p:sp>
        <p:nvSpPr>
          <p:cNvPr id="16" name="bullet-2">
            <a:extLst xmlns:a="http://schemas.openxmlformats.org/drawingml/2006/main">
              <a:ext uri="{FF2B5EF4-FFF2-40B4-BE49-F238E27FC236}">
                <a16:creationId xmlns:a16="http://schemas.microsoft.com/office/drawing/2014/main" id="{05968E84-AEBE-4A67-9F5A-3B78DC76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5F45"/>
                </a:solidFill>
              </a:defRPr>
            </a:pPr>
            <a:r>
              <a:rPr sz="1800">
                <a:solidFill>
                  <a:srgbClr val="D95F45"/>
                </a:solidFill>
              </a:rPr>
              <a:t>• 决定 HMI 呈现：是否让装配机界面同时显示当前 JOB / STEP、目标模式、结果码、报警码。</a:t>
            </a:r>
          </a:p>
        </p:txBody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AFE0C079-D50F-4A19-92F5-6828BB2D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3895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627F"/>
                </a:solidFill>
              </a:defRPr>
            </a:pPr>
            <a:r>
              <a:rPr sz="900">
                <a:solidFill>
                  <a:srgbClr val="4B627F"/>
                </a:solidFill>
              </a:rPr>
              <a:t>来源：MODBUS_20241227_V1.08(1).pdf，文档版本 V1.08，发布日期 2024/12/25。 重点来源：目录中的 4.4 当前状态相关章节，附录 A 当前状态 ASCII 区。</a:t>
            </a:r>
          </a:p>
        </p:txBody>
      </p:sp>
    </p:spTree>
    <p:extLst>
      <p:ext uri="{BB962C8B-B14F-4D97-AF65-F5344CB8AC3E}">
        <p14:creationId xmlns:p14="http://schemas.microsoft.com/office/powerpoint/2010/main" val="14724030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8708C03F-21B5-4812-AA86-6172A2E3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8E8B"/>
                </a:solidFill>
              </a:defRPr>
            </a:pPr>
            <a:r>
              <a:rPr sz="1650" b="1">
                <a:solidFill>
                  <a:srgbClr val="0E8E8B"/>
                </a:solidFill>
              </a:rPr>
              <a:t>04 / 写入面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6BDB50-FBAC-47E5-A08E-6CB6F988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233B"/>
                </a:solidFill>
              </a:defRPr>
            </a:pPr>
            <a:r>
              <a:rPr sz="4050" b="1">
                <a:solidFill>
                  <a:srgbClr val="11233B"/>
                </a:solidFill>
              </a:rPr>
              <a:t>文档真正的价值在于：不只读结果，还能由上位系统写入作业参数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ED05695-183B-4BF7-9657-E8512FC5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E8B"/>
          </a:solidFill>
          <a:ln xmlns:a="http://schemas.openxmlformats.org/drawingml/2006/main" w="0">
            <a:solidFill>
              <a:srgbClr val="0E8E8B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C181833-6BFE-41F1-9412-1E3CC8CB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1582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5.x 章节把可写能力分成一般功能设定、MODBUS 智能工作、MODBUS 追锁工作、I/O 工作和 BARCODE STOP 几大类。</a:t>
            </a:r>
          </a:p>
        </p:txBody>
      </p:sp>
      <p:sp>
        <p:nvSpPr>
          <p:cNvPr id="5" name="header-1">
            <a:extLst xmlns:a="http://schemas.openxmlformats.org/drawingml/2006/main">
              <a:ext uri="{FF2B5EF4-FFF2-40B4-BE49-F238E27FC236}">
                <a16:creationId xmlns:a16="http://schemas.microsoft.com/office/drawing/2014/main" id="{0A3A6899-8F21-4E19-BB61-F2828854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8E8B"/>
                </a:solidFill>
              </a:defRPr>
            </a:pPr>
            <a:r>
              <a:rPr sz="1500" b="1">
                <a:solidFill>
                  <a:srgbClr val="0E8E8B"/>
                </a:solidFill>
              </a:rPr>
              <a:t>能力块</a:t>
            </a:r>
          </a:p>
        </p:txBody>
      </p:sp>
      <p:sp>
        <p:nvSpPr>
          <p:cNvPr id="6" name="header-2">
            <a:extLst xmlns:a="http://schemas.openxmlformats.org/drawingml/2006/main">
              <a:ext uri="{FF2B5EF4-FFF2-40B4-BE49-F238E27FC236}">
                <a16:creationId xmlns:a16="http://schemas.microsoft.com/office/drawing/2014/main" id="{DC7EFECD-7EF4-44CE-ACD8-F71959F6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194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8E8B"/>
                </a:solidFill>
              </a:defRPr>
            </a:pPr>
            <a:r>
              <a:rPr sz="1500" b="1">
                <a:solidFill>
                  <a:srgbClr val="0E8E8B"/>
                </a:solidFill>
              </a:rPr>
              <a:t>文档位置</a:t>
            </a:r>
          </a:p>
        </p:txBody>
      </p:sp>
      <p:sp>
        <p:nvSpPr>
          <p:cNvPr id="7" name="header-3">
            <a:extLst xmlns:a="http://schemas.openxmlformats.org/drawingml/2006/main">
              <a:ext uri="{FF2B5EF4-FFF2-40B4-BE49-F238E27FC236}">
                <a16:creationId xmlns:a16="http://schemas.microsoft.com/office/drawing/2014/main" id="{3FC2609C-842E-47D5-9C6F-65B21954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1940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8E8B"/>
                </a:solidFill>
              </a:defRPr>
            </a:pPr>
            <a:r>
              <a:rPr sz="1500" b="1">
                <a:solidFill>
                  <a:srgbClr val="0E8E8B"/>
                </a:solidFill>
              </a:rPr>
              <a:t>典型内容</a:t>
            </a:r>
          </a:p>
        </p:txBody>
      </p:sp>
      <p:sp>
        <p:nvSpPr>
          <p:cNvPr id="8" name="header-4">
            <a:extLst xmlns:a="http://schemas.openxmlformats.org/drawingml/2006/main">
              <a:ext uri="{FF2B5EF4-FFF2-40B4-BE49-F238E27FC236}">
                <a16:creationId xmlns:a16="http://schemas.microsoft.com/office/drawing/2014/main" id="{EF5850B3-BD5F-440E-A561-469A3C1B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19400"/>
            <a:ext cx="552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8E8B"/>
                </a:solidFill>
              </a:defRPr>
            </a:pPr>
            <a:r>
              <a:rPr sz="1500" b="1">
                <a:solidFill>
                  <a:srgbClr val="0E8E8B"/>
                </a:solidFill>
              </a:rPr>
              <a:t>适合谁来控制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03053F9-E5DA-4771-B807-707712BA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1661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E8B"/>
          </a:solidFill>
          <a:ln xmlns:a="http://schemas.openxmlformats.org/drawingml/2006/main" w="0">
            <a:solidFill>
              <a:srgbClr val="0E8E8B"/>
            </a:solidFill>
            <a:prstDash val="solid"/>
          </a:ln>
        </p:spPr>
      </p:sp>
      <p:sp>
        <p:nvSpPr>
          <p:cNvPr id="10" name="row-1-cell-1">
            <a:extLst xmlns:a="http://schemas.openxmlformats.org/drawingml/2006/main">
              <a:ext uri="{FF2B5EF4-FFF2-40B4-BE49-F238E27FC236}">
                <a16:creationId xmlns:a16="http://schemas.microsoft.com/office/drawing/2014/main" id="{A85C2976-ABBD-406B-AD0F-EB023A64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33B"/>
                </a:solidFill>
              </a:defRPr>
            </a:pPr>
            <a:r>
              <a:rPr sz="1575" b="1">
                <a:solidFill>
                  <a:srgbClr val="11233B"/>
                </a:solidFill>
              </a:rPr>
              <a:t>一般功能设定</a:t>
            </a:r>
          </a:p>
        </p:txBody>
      </p:sp>
      <p:sp>
        <p:nvSpPr>
          <p:cNvPr id="11" name="row-1-cell-2">
            <a:extLst xmlns:a="http://schemas.openxmlformats.org/drawingml/2006/main">
              <a:ext uri="{FF2B5EF4-FFF2-40B4-BE49-F238E27FC236}">
                <a16:creationId xmlns:a16="http://schemas.microsoft.com/office/drawing/2014/main" id="{7EB8FF49-54D8-440F-B3F8-97299D2D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956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5.1–5.15</a:t>
            </a:r>
          </a:p>
        </p:txBody>
      </p:sp>
      <p:sp>
        <p:nvSpPr>
          <p:cNvPr id="12" name="row-1-cell-3">
            <a:extLst xmlns:a="http://schemas.openxmlformats.org/drawingml/2006/main">
              <a:ext uri="{FF2B5EF4-FFF2-40B4-BE49-F238E27FC236}">
                <a16:creationId xmlns:a16="http://schemas.microsoft.com/office/drawing/2014/main" id="{15F38FBD-FFCF-486F-BFC6-2C253AC2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956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锁附器操作、导入/导出、重启、亮度、语言、时区等</a:t>
            </a:r>
          </a:p>
        </p:txBody>
      </p:sp>
      <p:sp>
        <p:nvSpPr>
          <p:cNvPr id="13" name="row-1-cell-4">
            <a:extLst xmlns:a="http://schemas.openxmlformats.org/drawingml/2006/main">
              <a:ext uri="{FF2B5EF4-FFF2-40B4-BE49-F238E27FC236}">
                <a16:creationId xmlns:a16="http://schemas.microsoft.com/office/drawing/2014/main" id="{2F0739EE-CE5F-455D-94EB-7275A0E7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295650"/>
            <a:ext cx="552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调试工程师 / 设备维护</a:t>
            </a:r>
          </a:p>
        </p:txBody>
      </p:sp>
      <p:sp>
        <p:nvSpPr>
          <p:cNvPr id="14" name="row-rule-1">
            <a:extLst xmlns:a="http://schemas.openxmlformats.org/drawingml/2006/main">
              <a:ext uri="{FF2B5EF4-FFF2-40B4-BE49-F238E27FC236}">
                <a16:creationId xmlns:a16="http://schemas.microsoft.com/office/drawing/2014/main" id="{10B7F918-D4E7-43D9-B514-5C3ACCDE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661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15" name="row-2-cell-1">
            <a:extLst xmlns:a="http://schemas.openxmlformats.org/drawingml/2006/main">
              <a:ext uri="{FF2B5EF4-FFF2-40B4-BE49-F238E27FC236}">
                <a16:creationId xmlns:a16="http://schemas.microsoft.com/office/drawing/2014/main" id="{FE17C22E-6703-48CC-8E2F-EDD4C523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33B"/>
                </a:solidFill>
              </a:defRPr>
            </a:pPr>
            <a:r>
              <a:rPr sz="1575" b="1">
                <a:solidFill>
                  <a:srgbClr val="11233B"/>
                </a:solidFill>
              </a:rPr>
              <a:t>MODBUS 智能工作</a:t>
            </a:r>
          </a:p>
        </p:txBody>
      </p:sp>
      <p:sp>
        <p:nvSpPr>
          <p:cNvPr id="16" name="row-2-cell-2">
            <a:extLst xmlns:a="http://schemas.openxmlformats.org/drawingml/2006/main">
              <a:ext uri="{FF2B5EF4-FFF2-40B4-BE49-F238E27FC236}">
                <a16:creationId xmlns:a16="http://schemas.microsoft.com/office/drawing/2014/main" id="{D77CB73F-C00D-4E39-B5C4-3C735966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719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5.16</a:t>
            </a:r>
          </a:p>
        </p:txBody>
      </p:sp>
      <p:sp>
        <p:nvSpPr>
          <p:cNvPr id="17" name="row-2-cell-3">
            <a:extLst xmlns:a="http://schemas.openxmlformats.org/drawingml/2006/main">
              <a:ext uri="{FF2B5EF4-FFF2-40B4-BE49-F238E27FC236}">
                <a16:creationId xmlns:a16="http://schemas.microsoft.com/office/drawing/2014/main" id="{8B9475DF-51B7-4D05-8B45-9DBD16E0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7190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JOB 201、工作名、启停、速度、目标模式、扭力/角度等</a:t>
            </a:r>
          </a:p>
        </p:txBody>
      </p:sp>
      <p:sp>
        <p:nvSpPr>
          <p:cNvPr id="18" name="row-2-cell-4">
            <a:extLst xmlns:a="http://schemas.openxmlformats.org/drawingml/2006/main">
              <a:ext uri="{FF2B5EF4-FFF2-40B4-BE49-F238E27FC236}">
                <a16:creationId xmlns:a16="http://schemas.microsoft.com/office/drawing/2014/main" id="{D2E48683-4CA1-45D9-BE09-ECEAF785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771900"/>
            <a:ext cx="552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PLC 或上位机工艺控制</a:t>
            </a:r>
          </a:p>
        </p:txBody>
      </p:sp>
      <p:sp>
        <p:nvSpPr>
          <p:cNvPr id="19" name="row-rule-2">
            <a:extLst xmlns:a="http://schemas.openxmlformats.org/drawingml/2006/main">
              <a:ext uri="{FF2B5EF4-FFF2-40B4-BE49-F238E27FC236}">
                <a16:creationId xmlns:a16="http://schemas.microsoft.com/office/drawing/2014/main" id="{7B3E01D7-566D-4994-ABC4-96FD251B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1661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0" name="row-3-cell-1">
            <a:extLst xmlns:a="http://schemas.openxmlformats.org/drawingml/2006/main">
              <a:ext uri="{FF2B5EF4-FFF2-40B4-BE49-F238E27FC236}">
                <a16:creationId xmlns:a16="http://schemas.microsoft.com/office/drawing/2014/main" id="{222B5C85-88D1-47F0-A04E-380C2CBB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33B"/>
                </a:solidFill>
              </a:defRPr>
            </a:pPr>
            <a:r>
              <a:rPr sz="1575" b="1">
                <a:solidFill>
                  <a:srgbClr val="11233B"/>
                </a:solidFill>
              </a:rPr>
              <a:t>MODBUS 追锁工作</a:t>
            </a:r>
          </a:p>
        </p:txBody>
      </p:sp>
      <p:sp>
        <p:nvSpPr>
          <p:cNvPr id="21" name="row-3-cell-2">
            <a:extLst xmlns:a="http://schemas.openxmlformats.org/drawingml/2006/main">
              <a:ext uri="{FF2B5EF4-FFF2-40B4-BE49-F238E27FC236}">
                <a16:creationId xmlns:a16="http://schemas.microsoft.com/office/drawing/2014/main" id="{3595CC6D-66C8-4C76-9374-89B6BBF0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481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5.17</a:t>
            </a:r>
          </a:p>
        </p:txBody>
      </p:sp>
      <p:sp>
        <p:nvSpPr>
          <p:cNvPr id="22" name="row-3-cell-3">
            <a:extLst xmlns:a="http://schemas.openxmlformats.org/drawingml/2006/main">
              <a:ext uri="{FF2B5EF4-FFF2-40B4-BE49-F238E27FC236}">
                <a16:creationId xmlns:a16="http://schemas.microsoft.com/office/drawing/2014/main" id="{F10F6F68-AB81-4727-B740-C4F721DA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481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JOB 221、追锁程序、各步骤参数、速度/角度/扭力容差</a:t>
            </a:r>
          </a:p>
        </p:txBody>
      </p:sp>
      <p:sp>
        <p:nvSpPr>
          <p:cNvPr id="23" name="row-3-cell-4">
            <a:extLst xmlns:a="http://schemas.openxmlformats.org/drawingml/2006/main">
              <a:ext uri="{FF2B5EF4-FFF2-40B4-BE49-F238E27FC236}">
                <a16:creationId xmlns:a16="http://schemas.microsoft.com/office/drawing/2014/main" id="{B4075C1B-EEDD-4AAD-9C18-B8205EDD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48150"/>
            <a:ext cx="552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追锁工艺控制逻辑</a:t>
            </a:r>
          </a:p>
        </p:txBody>
      </p:sp>
      <p:sp>
        <p:nvSpPr>
          <p:cNvPr id="24" name="row-rule-3">
            <a:extLst xmlns:a="http://schemas.openxmlformats.org/drawingml/2006/main">
              <a:ext uri="{FF2B5EF4-FFF2-40B4-BE49-F238E27FC236}">
                <a16:creationId xmlns:a16="http://schemas.microsoft.com/office/drawing/2014/main" id="{158B5C13-F72A-49AE-A280-0399E225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1661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5" name="row-4-cell-1">
            <a:extLst xmlns:a="http://schemas.openxmlformats.org/drawingml/2006/main">
              <a:ext uri="{FF2B5EF4-FFF2-40B4-BE49-F238E27FC236}">
                <a16:creationId xmlns:a16="http://schemas.microsoft.com/office/drawing/2014/main" id="{4318740A-AB41-4717-97F4-C9AAB387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33B"/>
                </a:solidFill>
              </a:defRPr>
            </a:pPr>
            <a:r>
              <a:rPr sz="1575" b="1">
                <a:solidFill>
                  <a:srgbClr val="11233B"/>
                </a:solidFill>
              </a:rPr>
              <a:t>I/O 工作设定</a:t>
            </a:r>
          </a:p>
        </p:txBody>
      </p:sp>
      <p:sp>
        <p:nvSpPr>
          <p:cNvPr id="26" name="row-4-cell-2">
            <a:extLst xmlns:a="http://schemas.openxmlformats.org/drawingml/2006/main">
              <a:ext uri="{FF2B5EF4-FFF2-40B4-BE49-F238E27FC236}">
                <a16:creationId xmlns:a16="http://schemas.microsoft.com/office/drawing/2014/main" id="{8D881EC7-A2CB-42D1-AF73-02B34671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244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5.18</a:t>
            </a:r>
          </a:p>
        </p:txBody>
      </p:sp>
      <p:sp>
        <p:nvSpPr>
          <p:cNvPr id="27" name="row-4-cell-3">
            <a:extLst xmlns:a="http://schemas.openxmlformats.org/drawingml/2006/main">
              <a:ext uri="{FF2B5EF4-FFF2-40B4-BE49-F238E27FC236}">
                <a16:creationId xmlns:a16="http://schemas.microsoft.com/office/drawing/2014/main" id="{30948BB7-2362-4151-8CB9-DA75F15E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72440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输入事件、输出事件、输出测试</a:t>
            </a:r>
          </a:p>
        </p:txBody>
      </p:sp>
      <p:sp>
        <p:nvSpPr>
          <p:cNvPr id="28" name="row-4-cell-4">
            <a:extLst xmlns:a="http://schemas.openxmlformats.org/drawingml/2006/main">
              <a:ext uri="{FF2B5EF4-FFF2-40B4-BE49-F238E27FC236}">
                <a16:creationId xmlns:a16="http://schemas.microsoft.com/office/drawing/2014/main" id="{CCB6B3B3-BEB5-4EB2-B23E-8D30EC48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724400"/>
            <a:ext cx="552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电气集成与互锁设计</a:t>
            </a:r>
          </a:p>
        </p:txBody>
      </p:sp>
      <p:sp>
        <p:nvSpPr>
          <p:cNvPr id="29" name="row-rule-4">
            <a:extLst xmlns:a="http://schemas.openxmlformats.org/drawingml/2006/main">
              <a:ext uri="{FF2B5EF4-FFF2-40B4-BE49-F238E27FC236}">
                <a16:creationId xmlns:a16="http://schemas.microsoft.com/office/drawing/2014/main" id="{26980813-884A-4005-A918-A162EAC4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1661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30" name="row-5-cell-1">
            <a:extLst xmlns:a="http://schemas.openxmlformats.org/drawingml/2006/main">
              <a:ext uri="{FF2B5EF4-FFF2-40B4-BE49-F238E27FC236}">
                <a16:creationId xmlns:a16="http://schemas.microsoft.com/office/drawing/2014/main" id="{AC939035-2555-40C3-90D4-528C9DA4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33B"/>
                </a:solidFill>
              </a:defRPr>
            </a:pPr>
            <a:r>
              <a:rPr sz="1575" b="1">
                <a:solidFill>
                  <a:srgbClr val="11233B"/>
                </a:solidFill>
              </a:rPr>
              <a:t>BARCODE STOP</a:t>
            </a:r>
          </a:p>
        </p:txBody>
      </p:sp>
      <p:sp>
        <p:nvSpPr>
          <p:cNvPr id="31" name="row-5-cell-2">
            <a:extLst xmlns:a="http://schemas.openxmlformats.org/drawingml/2006/main">
              <a:ext uri="{FF2B5EF4-FFF2-40B4-BE49-F238E27FC236}">
                <a16:creationId xmlns:a16="http://schemas.microsoft.com/office/drawing/2014/main" id="{531D16A3-94AC-4722-ABFA-3633EA72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006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5.19</a:t>
            </a:r>
          </a:p>
        </p:txBody>
      </p:sp>
      <p:sp>
        <p:nvSpPr>
          <p:cNvPr id="32" name="row-5-cell-3">
            <a:extLst xmlns:a="http://schemas.openxmlformats.org/drawingml/2006/main">
              <a:ext uri="{FF2B5EF4-FFF2-40B4-BE49-F238E27FC236}">
                <a16:creationId xmlns:a16="http://schemas.microsoft.com/office/drawing/2014/main" id="{06AF9D33-9FE8-4BD3-9BBA-9D71E753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006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作业号、模式、条码 ASCII、起始位与长度</a:t>
            </a:r>
          </a:p>
        </p:txBody>
      </p:sp>
      <p:sp>
        <p:nvSpPr>
          <p:cNvPr id="33" name="row-5-cell-4">
            <a:extLst xmlns:a="http://schemas.openxmlformats.org/drawingml/2006/main">
              <a:ext uri="{FF2B5EF4-FFF2-40B4-BE49-F238E27FC236}">
                <a16:creationId xmlns:a16="http://schemas.microsoft.com/office/drawing/2014/main" id="{012E6406-B254-42AE-91B7-EE0BD2F2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200650"/>
            <a:ext cx="552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233B"/>
                </a:solidFill>
              </a:defRPr>
            </a:pPr>
            <a:r>
              <a:rPr sz="1425" b="0">
                <a:solidFill>
                  <a:srgbClr val="11233B"/>
                </a:solidFill>
              </a:rPr>
              <a:t>MES / 扫码工站 / 追溯系统</a:t>
            </a:r>
          </a:p>
        </p:txBody>
      </p:sp>
      <p:sp>
        <p:nvSpPr>
          <p:cNvPr id="34" name="row-rule-5">
            <a:extLst xmlns:a="http://schemas.openxmlformats.org/drawingml/2006/main">
              <a:ext uri="{FF2B5EF4-FFF2-40B4-BE49-F238E27FC236}">
                <a16:creationId xmlns:a16="http://schemas.microsoft.com/office/drawing/2014/main" id="{FE6A2899-05E3-4A67-A725-50511DC2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661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35" name="工程含义-heading">
            <a:extLst xmlns:a="http://schemas.openxmlformats.org/drawingml/2006/main">
              <a:ext uri="{FF2B5EF4-FFF2-40B4-BE49-F238E27FC236}">
                <a16:creationId xmlns:a16="http://schemas.microsoft.com/office/drawing/2014/main" id="{CD02D532-9356-4299-BCA6-CC039BDD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661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8E8B"/>
                </a:solidFill>
              </a:defRPr>
            </a:pPr>
            <a:r>
              <a:rPr sz="2100" b="1">
                <a:solidFill>
                  <a:srgbClr val="0E8E8B"/>
                </a:solidFill>
              </a:rPr>
              <a:t>工程含义</a:t>
            </a:r>
          </a:p>
        </p:txBody>
      </p:sp>
      <p:sp>
        <p:nvSpPr>
          <p:cNvPr id="36" name="bullet-1">
            <a:extLst xmlns:a="http://schemas.openxmlformats.org/drawingml/2006/main">
              <a:ext uri="{FF2B5EF4-FFF2-40B4-BE49-F238E27FC236}">
                <a16:creationId xmlns:a16="http://schemas.microsoft.com/office/drawing/2014/main" id="{C056223C-5F2F-4572-AE10-A9BA33A0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如果项目只需要“锁付结果上传”，做到 4.x 就够；如果需要“由整机控制作业策略”，就必须进入 5.16/5.17/5.18/5.19。</a:t>
            </a:r>
          </a:p>
        </p:txBody>
      </p:sp>
      <p:sp>
        <p:nvSpPr>
          <p:cNvPr id="37" name="bullet-2">
            <a:extLst xmlns:a="http://schemas.openxmlformats.org/drawingml/2006/main">
              <a:ext uri="{FF2B5EF4-FFF2-40B4-BE49-F238E27FC236}">
                <a16:creationId xmlns:a16="http://schemas.microsoft.com/office/drawing/2014/main" id="{0BD8EC6B-29F4-4808-909F-597D51F2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这也是本项目最值得提前对齐的范围边界，否则 PLC、上位机、MES 会出现职责重叠。</a:t>
            </a:r>
          </a:p>
        </p:txBody>
      </p:sp>
      <p:sp>
        <p:nvSpPr>
          <p:cNvPr id="38" name="source">
            <a:extLst xmlns:a="http://schemas.openxmlformats.org/drawingml/2006/main">
              <a:ext uri="{FF2B5EF4-FFF2-40B4-BE49-F238E27FC236}">
                <a16:creationId xmlns:a16="http://schemas.microsoft.com/office/drawing/2014/main" id="{5E51C046-7B04-42A5-9EA9-7D84FA49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0090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627F"/>
                </a:solidFill>
              </a:defRPr>
            </a:pPr>
            <a:r>
              <a:rPr sz="900">
                <a:solidFill>
                  <a:srgbClr val="4B627F"/>
                </a:solidFill>
              </a:rPr>
              <a:t>来源：MODBUS_20241227_V1.08(1).pdf，文档版本 V1.08，发布日期 2024/12/25。</a:t>
            </a:r>
          </a:p>
        </p:txBody>
      </p:sp>
    </p:spTree>
    <p:extLst>
      <p:ext uri="{BB962C8B-B14F-4D97-AF65-F5344CB8AC3E}">
        <p14:creationId xmlns:p14="http://schemas.microsoft.com/office/powerpoint/2010/main" val="12193212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263AD626-E220-49B4-BD32-3E471368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8E8B"/>
                </a:solidFill>
              </a:defRPr>
            </a:pPr>
            <a:r>
              <a:rPr sz="1650" b="1">
                <a:solidFill>
                  <a:srgbClr val="0E8E8B"/>
                </a:solidFill>
              </a:rPr>
              <a:t>05 / 两种作业模型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BDFC72-E832-4755-81CB-D8720D7E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233B"/>
                </a:solidFill>
              </a:defRPr>
            </a:pPr>
            <a:r>
              <a:rPr sz="4050" b="1">
                <a:solidFill>
                  <a:srgbClr val="11233B"/>
                </a:solidFill>
              </a:rPr>
              <a:t>标准智能工作与追锁工作，本质上是两种不同复杂度的控制模板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FEFC06F-CB71-4473-8F5A-159EFED3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E8B"/>
          </a:solidFill>
          <a:ln xmlns:a="http://schemas.openxmlformats.org/drawingml/2006/main" w="0">
            <a:solidFill>
              <a:srgbClr val="0E8E8B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F79DC186-8C54-426D-B2D2-0C22BD5E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8343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目录和寄存器表显示，文档至少为这两类作业预留了独立的 JOB 区与 ASCII 描述区。</a:t>
            </a:r>
          </a:p>
        </p:txBody>
      </p:sp>
      <p:sp>
        <p:nvSpPr>
          <p:cNvPr id="5" name="MODBUS 智能工作（5.16）-heading">
            <a:extLst xmlns:a="http://schemas.openxmlformats.org/drawingml/2006/main">
              <a:ext uri="{FF2B5EF4-FFF2-40B4-BE49-F238E27FC236}">
                <a16:creationId xmlns:a16="http://schemas.microsoft.com/office/drawing/2014/main" id="{52D756ED-79A4-415C-9B22-3F0A89B9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8058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8E8B"/>
                </a:solidFill>
              </a:defRPr>
            </a:pPr>
            <a:r>
              <a:rPr sz="2100" b="1">
                <a:solidFill>
                  <a:srgbClr val="0E8E8B"/>
                </a:solidFill>
              </a:rPr>
              <a:t>MODBUS 智能工作（5.16）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3C0B3864-BA4F-4B62-B78E-4B06F084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从寄存器表看，核心 JOB ID 为 201。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6B18C21B-615B-458B-A8B1-138E0297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80581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适合单一目标型工艺：开关、速度%、目标模式、目标扭力/角度、补偿和停止条件。</a:t>
            </a:r>
          </a:p>
        </p:txBody>
      </p:sp>
      <p:sp>
        <p:nvSpPr>
          <p:cNvPr id="8" name="bullet-3">
            <a:extLst xmlns:a="http://schemas.openxmlformats.org/drawingml/2006/main">
              <a:ext uri="{FF2B5EF4-FFF2-40B4-BE49-F238E27FC236}">
                <a16:creationId xmlns:a16="http://schemas.microsoft.com/office/drawing/2014/main" id="{123BBCF4-30D9-4699-8B1C-7DB4D2E7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更像“给当前工步下发一组参数”，实现难度较低，便于先打通基本工艺。</a:t>
            </a:r>
          </a:p>
        </p:txBody>
      </p:sp>
      <p:sp>
        <p:nvSpPr>
          <p:cNvPr id="9" name="MODBUS 追锁工作（5.17）-heading">
            <a:extLst xmlns:a="http://schemas.openxmlformats.org/drawingml/2006/main">
              <a:ext uri="{FF2B5EF4-FFF2-40B4-BE49-F238E27FC236}">
                <a16:creationId xmlns:a16="http://schemas.microsoft.com/office/drawing/2014/main" id="{E0F2C155-6C04-40D5-8DFB-4F885149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52700"/>
            <a:ext cx="8058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5F45"/>
                </a:solidFill>
              </a:defRPr>
            </a:pPr>
            <a:r>
              <a:rPr sz="2100" b="1">
                <a:solidFill>
                  <a:srgbClr val="D95F45"/>
                </a:solidFill>
              </a:rPr>
              <a:t>MODBUS 追锁工作（5.17）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6EE914A7-553C-46DF-956A-080DB2D3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9085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5F45"/>
                </a:solidFill>
              </a:defRPr>
            </a:pPr>
            <a:r>
              <a:rPr sz="1800">
                <a:solidFill>
                  <a:srgbClr val="D95F45"/>
                </a:solidFill>
              </a:rPr>
              <a:t>• 从寄存器表看，核心 JOB ID 为 221。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360C335D-22FC-4BE1-A357-7883B7A0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7185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5F45"/>
                </a:solidFill>
              </a:defRPr>
            </a:pPr>
            <a:r>
              <a:rPr sz="1800">
                <a:solidFill>
                  <a:srgbClr val="D95F45"/>
                </a:solidFill>
              </a:rPr>
              <a:t>• 包含追锁程序与 1~8 步的逐步参数，适合多阶段工艺与复杂防错。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E84DC99D-999E-4D9A-9DCB-0278EEDF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3380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5F45"/>
                </a:solidFill>
              </a:defRPr>
            </a:pPr>
            <a:r>
              <a:rPr sz="1800">
                <a:solidFill>
                  <a:srgbClr val="D95F45"/>
                </a:solidFill>
              </a:rPr>
              <a:t>• 更像“把一段工艺流程写进工具”，需要更明确的工艺策略与异常分支。</a:t>
            </a:r>
          </a:p>
        </p:txBody>
      </p:sp>
      <p:sp>
        <p:nvSpPr>
          <p:cNvPr id="13" name="推荐决策-heading">
            <a:extLst xmlns:a="http://schemas.openxmlformats.org/drawingml/2006/main">
              <a:ext uri="{FF2B5EF4-FFF2-40B4-BE49-F238E27FC236}">
                <a16:creationId xmlns:a16="http://schemas.microsoft.com/office/drawing/2014/main" id="{107226AF-5CCA-4230-BF5D-B0AFBB36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661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33B"/>
                </a:solidFill>
              </a:defRPr>
            </a:pPr>
            <a:r>
              <a:rPr sz="2100" b="1">
                <a:solidFill>
                  <a:srgbClr val="11233B"/>
                </a:solidFill>
              </a:rPr>
              <a:t>推荐决策</a:t>
            </a:r>
          </a:p>
        </p:txBody>
      </p:sp>
      <p:sp>
        <p:nvSpPr>
          <p:cNvPr id="14" name="bullet-1">
            <a:extLst xmlns:a="http://schemas.openxmlformats.org/drawingml/2006/main">
              <a:ext uri="{FF2B5EF4-FFF2-40B4-BE49-F238E27FC236}">
                <a16:creationId xmlns:a16="http://schemas.microsoft.com/office/drawing/2014/main" id="{A5A80A0F-C598-42EC-826B-18D4C84A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若本项目当前只需尽快稳定上线，建议先以智能工作模式打通最小闭环。</a:t>
            </a:r>
          </a:p>
        </p:txBody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8BF16C5B-4D55-4277-B42A-CB2146EB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若奇力速拧紧枪最终要承担多步骤追锁或复杂工艺切换，再评估是否升级到追锁工作模型。</a:t>
            </a:r>
          </a:p>
        </p:txBody>
      </p:sp>
      <p:sp>
        <p:nvSpPr>
          <p:cNvPr id="16" name="bullet-3">
            <a:extLst xmlns:a="http://schemas.openxmlformats.org/drawingml/2006/main">
              <a:ext uri="{FF2B5EF4-FFF2-40B4-BE49-F238E27FC236}">
                <a16:creationId xmlns:a16="http://schemas.microsoft.com/office/drawing/2014/main" id="{BFCF1944-9EAF-4489-9FAC-EB97F02A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无论选哪种模型，JOB 201 / 221 的所有写入参数都应留有回读校验。文档也提示修改后要切换到对应 JOB 才会生效。</a:t>
            </a:r>
          </a:p>
        </p:txBody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3029725E-D7EA-4988-BA52-2B6D352A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5320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627F"/>
                </a:solidFill>
              </a:defRPr>
            </a:pPr>
            <a:r>
              <a:rPr sz="900">
                <a:solidFill>
                  <a:srgbClr val="4B627F"/>
                </a:solidFill>
              </a:rPr>
              <a:t>来源：MODBUS_20241227_V1.08(1).pdf，文档版本 V1.08，发布日期 2024/12/25。 重点来源：5.16、5.17 以及其附录 ASCII 区；寄存器表中明确出现 JOB ID 201 / 221。</a:t>
            </a:r>
          </a:p>
        </p:txBody>
      </p:sp>
    </p:spTree>
    <p:extLst>
      <p:ext uri="{BB962C8B-B14F-4D97-AF65-F5344CB8AC3E}">
        <p14:creationId xmlns:p14="http://schemas.microsoft.com/office/powerpoint/2010/main" val="19841486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580DE5D2-6D78-4FC5-BA3B-BE4A4F02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8E8B"/>
                </a:solidFill>
              </a:defRPr>
            </a:pPr>
            <a:r>
              <a:rPr sz="1650" b="1">
                <a:solidFill>
                  <a:srgbClr val="0E8E8B"/>
                </a:solidFill>
              </a:rPr>
              <a:t>06 / I/O 与条码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555D96-375F-4567-9BA6-38073288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66116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233B"/>
                </a:solidFill>
              </a:defRPr>
            </a:pPr>
            <a:r>
              <a:rPr sz="4050" b="1">
                <a:solidFill>
                  <a:srgbClr val="11233B"/>
                </a:solidFill>
              </a:rPr>
              <a:t>要让拧紧枪真正接入自动装配线，I/O 和 BARCODE STOP 是系统集成的桥梁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0CC1E2E-F85C-43D8-A05B-4B9C6DD6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E8B"/>
          </a:solidFill>
          <a:ln xmlns:a="http://schemas.openxmlformats.org/drawingml/2006/main" w="0">
            <a:solidFill>
              <a:srgbClr val="0E8E8B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DAEFD53-FEE0-407F-A0EE-C99969F3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685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这里不是参数细节最多的部分，却往往最影响整线互锁和追溯闭环。</a:t>
            </a:r>
          </a:p>
        </p:txBody>
      </p:sp>
      <p:sp>
        <p:nvSpPr>
          <p:cNvPr id="5" name="I/O 工作设定（5.18）-heading">
            <a:extLst xmlns:a="http://schemas.openxmlformats.org/drawingml/2006/main">
              <a:ext uri="{FF2B5EF4-FFF2-40B4-BE49-F238E27FC236}">
                <a16:creationId xmlns:a16="http://schemas.microsoft.com/office/drawing/2014/main" id="{B5CCFAFD-7FA9-47BE-980E-011594BE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803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33B"/>
                </a:solidFill>
              </a:defRPr>
            </a:pPr>
            <a:r>
              <a:rPr sz="2100" b="1">
                <a:solidFill>
                  <a:srgbClr val="11233B"/>
                </a:solidFill>
              </a:rPr>
              <a:t>I/O 工作设定（5.18）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4E2CE58E-4851-4EFC-ADD6-86D9EB43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8039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输入事件与输出事件均可通过 MODBUS 设定，文档列出了多个通道的事件类型与相关参数。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38BF0291-16F1-4B09-87D8-7A928D84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输出侧除了事件映射，还有输出测试页，适合电气调试阶段逐点确认。</a:t>
            </a:r>
          </a:p>
        </p:txBody>
      </p:sp>
      <p:sp>
        <p:nvSpPr>
          <p:cNvPr id="8" name="bullet-3">
            <a:extLst xmlns:a="http://schemas.openxmlformats.org/drawingml/2006/main">
              <a:ext uri="{FF2B5EF4-FFF2-40B4-BE49-F238E27FC236}">
                <a16:creationId xmlns:a16="http://schemas.microsoft.com/office/drawing/2014/main" id="{D8097666-28EB-440D-B911-AB89A13D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8039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这部分建议由电气和软件一起定义“哪个事件用硬件 I/O、哪个事件走通讯结果码”。</a:t>
            </a:r>
          </a:p>
        </p:txBody>
      </p:sp>
      <p:sp>
        <p:nvSpPr>
          <p:cNvPr id="9" name="BARCODE STOP（5.19）-heading">
            <a:extLst xmlns:a="http://schemas.openxmlformats.org/drawingml/2006/main">
              <a:ext uri="{FF2B5EF4-FFF2-40B4-BE49-F238E27FC236}">
                <a16:creationId xmlns:a16="http://schemas.microsoft.com/office/drawing/2014/main" id="{B96D455E-EA8A-4598-8DD2-0C44A1AB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62300"/>
            <a:ext cx="803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8E8B"/>
                </a:solidFill>
              </a:defRPr>
            </a:pPr>
            <a:r>
              <a:rPr sz="2100" b="1">
                <a:solidFill>
                  <a:srgbClr val="0E8E8B"/>
                </a:solidFill>
              </a:rPr>
              <a:t>BARCODE STOP（5.19）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910479C6-12A0-40CE-9BBC-1C11AD1A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1950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可设定对应作业号、启用模式、条码 ASCII 内容、起始位和长度。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0991E203-2BB0-45FF-B22D-9F636BD2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8145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文档中出现 201 / 221 对应的条码配置，说明条码规则可与作业模型绑定。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18161E68-C4C3-44BD-9220-1585E5CA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6245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若项目有扫码防错或 MES 工单控制，这一页是必须提前确认的系统接口点。</a:t>
            </a:r>
          </a:p>
        </p:txBody>
      </p:sp>
      <p:sp>
        <p:nvSpPr>
          <p:cNvPr id="13" name="需要拍板的接口策略-heading">
            <a:extLst xmlns:a="http://schemas.openxmlformats.org/drawingml/2006/main">
              <a:ext uri="{FF2B5EF4-FFF2-40B4-BE49-F238E27FC236}">
                <a16:creationId xmlns:a16="http://schemas.microsoft.com/office/drawing/2014/main" id="{9AE0AF8A-0D61-4B43-A652-AF992C3E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1661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5F45"/>
                </a:solidFill>
              </a:defRPr>
            </a:pPr>
            <a:r>
              <a:rPr sz="2100" b="1">
                <a:solidFill>
                  <a:srgbClr val="D95F45"/>
                </a:solidFill>
              </a:rPr>
              <a:t>需要拍板的接口策略</a:t>
            </a:r>
          </a:p>
        </p:txBody>
      </p:sp>
      <p:sp>
        <p:nvSpPr>
          <p:cNvPr id="14" name="bullet-1">
            <a:extLst xmlns:a="http://schemas.openxmlformats.org/drawingml/2006/main">
              <a:ext uri="{FF2B5EF4-FFF2-40B4-BE49-F238E27FC236}">
                <a16:creationId xmlns:a16="http://schemas.microsoft.com/office/drawing/2014/main" id="{42CB27AF-727E-4E08-88C0-934F1F4A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5F45"/>
                </a:solidFill>
              </a:defRPr>
            </a:pPr>
            <a:r>
              <a:rPr sz="1800">
                <a:solidFill>
                  <a:srgbClr val="D95F45"/>
                </a:solidFill>
              </a:rPr>
              <a:t>• 扫码结果由谁生成并下发：PLC、上位机还是 MES。</a:t>
            </a:r>
          </a:p>
        </p:txBody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6C04C4BB-7E9E-4124-AF9D-E6F3D46E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6745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5F45"/>
                </a:solidFill>
              </a:defRPr>
            </a:pPr>
            <a:r>
              <a:rPr sz="1800">
                <a:solidFill>
                  <a:srgbClr val="D95F45"/>
                </a:solidFill>
              </a:rPr>
              <a:t>• 互锁优先级如何排序：条码不符、报警码异常、结果 NG、工具禁用，谁先挡停整机。</a:t>
            </a:r>
          </a:p>
        </p:txBody>
      </p:sp>
      <p:sp>
        <p:nvSpPr>
          <p:cNvPr id="16" name="bullet-3">
            <a:extLst xmlns:a="http://schemas.openxmlformats.org/drawingml/2006/main">
              <a:ext uri="{FF2B5EF4-FFF2-40B4-BE49-F238E27FC236}">
                <a16:creationId xmlns:a16="http://schemas.microsoft.com/office/drawing/2014/main" id="{6C038090-B758-4351-873D-71BF601F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294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5F45"/>
                </a:solidFill>
              </a:defRPr>
            </a:pPr>
            <a:r>
              <a:rPr sz="1800">
                <a:solidFill>
                  <a:srgbClr val="D95F45"/>
                </a:solidFill>
              </a:rPr>
              <a:t>• I/O 与 MODBUS 双通道是否并存，还是只保留其中一条作为主控制链路。</a:t>
            </a:r>
          </a:p>
        </p:txBody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3F33CC5D-1474-4483-A4F9-7D38655B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8185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627F"/>
                </a:solidFill>
              </a:defRPr>
            </a:pPr>
            <a:r>
              <a:rPr sz="900">
                <a:solidFill>
                  <a:srgbClr val="4B627F"/>
                </a:solidFill>
              </a:rPr>
              <a:t>来源：MODBUS_20241227_V1.08(1).pdf，文档版本 V1.08，发布日期 2024/12/25。 重点来源：5.18 I/O 工作设定、5.19 BARCODE STOP。</a:t>
            </a:r>
          </a:p>
        </p:txBody>
      </p:sp>
    </p:spTree>
    <p:extLst>
      <p:ext uri="{BB962C8B-B14F-4D97-AF65-F5344CB8AC3E}">
        <p14:creationId xmlns:p14="http://schemas.microsoft.com/office/powerpoint/2010/main" val="1488241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F66DFC00-36CA-491B-8F3D-EBFDED33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8E8B"/>
                </a:solidFill>
              </a:defRPr>
            </a:pPr>
            <a:r>
              <a:rPr sz="1650" b="1">
                <a:solidFill>
                  <a:srgbClr val="0E8E8B"/>
                </a:solidFill>
              </a:rPr>
              <a:t>07 / 建议决策与后续步骤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9B662A-6E88-47B7-BD88-013F4522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233B"/>
                </a:solidFill>
              </a:defRPr>
            </a:pPr>
            <a:r>
              <a:rPr sz="4050" b="1">
                <a:solidFill>
                  <a:srgbClr val="11233B"/>
                </a:solidFill>
              </a:rPr>
              <a:t>先收敛范围，再进入联调；这样最省时间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6D79984-FF9A-4156-9F10-235A94DF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E8B"/>
          </a:solidFill>
          <a:ln xmlns:a="http://schemas.openxmlformats.org/drawingml/2006/main" w="0">
            <a:solidFill>
              <a:srgbClr val="0E8E8B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7957A8FE-61D7-455D-A79F-8C3955D4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8877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基于这份文档，当前最关键的不是“会不会写寄存器”，而是先锁定项目范围与分工边界。</a:t>
            </a:r>
          </a:p>
        </p:txBody>
      </p:sp>
      <p:sp>
        <p:nvSpPr>
          <p:cNvPr id="5" name="建议立即拍板的 4 项决策-heading">
            <a:extLst xmlns:a="http://schemas.openxmlformats.org/drawingml/2006/main">
              <a:ext uri="{FF2B5EF4-FFF2-40B4-BE49-F238E27FC236}">
                <a16:creationId xmlns:a16="http://schemas.microsoft.com/office/drawing/2014/main" id="{9C0CD14A-0908-4E6F-A9A1-54320139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803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8E8B"/>
                </a:solidFill>
              </a:defRPr>
            </a:pPr>
            <a:r>
              <a:rPr sz="2100" b="1">
                <a:solidFill>
                  <a:srgbClr val="0E8E8B"/>
                </a:solidFill>
              </a:rPr>
              <a:t>建议立即拍板的 4 项决策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70AC1EAA-8605-46D5-96B1-A13901C7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通信模式：TCP 还是 RS-232，IP / 串口参数由谁维护。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012300E3-CCB9-4182-9421-89E4BA1E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作业模型：先用智能工作（JOB 201）还是直接上追锁工作（JOB 221）。</a:t>
            </a:r>
          </a:p>
        </p:txBody>
      </p:sp>
      <p:sp>
        <p:nvSpPr>
          <p:cNvPr id="8" name="bullet-3">
            <a:extLst xmlns:a="http://schemas.openxmlformats.org/drawingml/2006/main">
              <a:ext uri="{FF2B5EF4-FFF2-40B4-BE49-F238E27FC236}">
                <a16:creationId xmlns:a16="http://schemas.microsoft.com/office/drawing/2014/main" id="{F09144DB-AD0E-4F96-AA86-6FE35C6F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事件链路：结果码 / 报警码 / I/O / 条码规则分别由谁消费与显示。</a:t>
            </a:r>
          </a:p>
        </p:txBody>
      </p:sp>
      <p:sp>
        <p:nvSpPr>
          <p:cNvPr id="9" name="bullet-4">
            <a:extLst xmlns:a="http://schemas.openxmlformats.org/drawingml/2006/main">
              <a:ext uri="{FF2B5EF4-FFF2-40B4-BE49-F238E27FC236}">
                <a16:creationId xmlns:a16="http://schemas.microsoft.com/office/drawing/2014/main" id="{338A253A-7AFB-439C-8618-697D9FE5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数据追溯：至少保留结果时间、工具身份、JOB/STEP、结果码、报警码。</a:t>
            </a:r>
          </a:p>
        </p:txBody>
      </p:sp>
      <p:sp>
        <p:nvSpPr>
          <p:cNvPr id="10" name="建议的后续步骤-heading">
            <a:extLst xmlns:a="http://schemas.openxmlformats.org/drawingml/2006/main">
              <a:ext uri="{FF2B5EF4-FFF2-40B4-BE49-F238E27FC236}">
                <a16:creationId xmlns:a16="http://schemas.microsoft.com/office/drawing/2014/main" id="{1860A8C9-3879-4D6F-BBEF-A7D92DBC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19400"/>
            <a:ext cx="803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33B"/>
                </a:solidFill>
              </a:defRPr>
            </a:pPr>
            <a:r>
              <a:rPr sz="2100" b="1">
                <a:solidFill>
                  <a:srgbClr val="11233B"/>
                </a:solidFill>
              </a:rPr>
              <a:t>建议的后续步骤</a:t>
            </a:r>
          </a:p>
        </p:txBody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411384AC-098D-4C95-9AFC-E2479E83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7660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步骤 1：做一份寄存器对照表，只抽本项目会用到的地址。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D1FA2AC2-6BE5-46B1-9A2B-5CC14B4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3855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步骤 2：先打通只读联调，确认结果码、报警码、当前状态持续稳定。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AD64F543-A05E-44D4-90CA-9D5029C4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1955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步骤 3：再打通单一 JOB 写入与回读，确认参数切换真正生效。</a:t>
            </a:r>
          </a:p>
        </p:txBody>
      </p:sp>
      <p:sp>
        <p:nvSpPr>
          <p:cNvPr id="14" name="bullet-4">
            <a:extLst xmlns:a="http://schemas.openxmlformats.org/drawingml/2006/main">
              <a:ext uri="{FF2B5EF4-FFF2-40B4-BE49-F238E27FC236}">
                <a16:creationId xmlns:a16="http://schemas.microsoft.com/office/drawing/2014/main" id="{3AC7390E-49DE-4E3E-9B71-1D81A911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8150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27F"/>
                </a:solidFill>
              </a:defRPr>
            </a:pPr>
            <a:r>
              <a:rPr sz="1800">
                <a:solidFill>
                  <a:srgbClr val="4B627F"/>
                </a:solidFill>
              </a:rPr>
              <a:t>• 步骤 4：最后接入 I/O 与条码，完成整机互锁和追溯闭环。</a:t>
            </a:r>
          </a:p>
        </p:txBody>
      </p:sp>
      <p:sp>
        <p:nvSpPr>
          <p:cNvPr id="15" name="推荐交付物-heading">
            <a:extLst xmlns:a="http://schemas.openxmlformats.org/drawingml/2006/main">
              <a:ext uri="{FF2B5EF4-FFF2-40B4-BE49-F238E27FC236}">
                <a16:creationId xmlns:a16="http://schemas.microsoft.com/office/drawing/2014/main" id="{EC9242F0-DCB8-495B-A211-2BF4BD8E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661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5F45"/>
                </a:solidFill>
              </a:defRPr>
            </a:pPr>
            <a:r>
              <a:rPr sz="2100" b="1">
                <a:solidFill>
                  <a:srgbClr val="D95F45"/>
                </a:solidFill>
              </a:rPr>
              <a:t>推荐交付物</a:t>
            </a:r>
          </a:p>
        </p:txBody>
      </p:sp>
      <p:sp>
        <p:nvSpPr>
          <p:cNvPr id="16" name="bullet-1">
            <a:extLst xmlns:a="http://schemas.openxmlformats.org/drawingml/2006/main">
              <a:ext uri="{FF2B5EF4-FFF2-40B4-BE49-F238E27FC236}">
                <a16:creationId xmlns:a16="http://schemas.microsoft.com/office/drawing/2014/main" id="{20C21B94-F098-4FD0-9374-F998395E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5F45"/>
                </a:solidFill>
              </a:defRPr>
            </a:pPr>
            <a:r>
              <a:rPr sz="1800">
                <a:solidFill>
                  <a:srgbClr val="D95F45"/>
                </a:solidFill>
              </a:rPr>
              <a:t>• 一份 PLC / 上位机通用的地址清单。</a:t>
            </a:r>
          </a:p>
        </p:txBody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F02B6DE4-0BA5-4F0D-B1AC-D015D6BF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5F45"/>
                </a:solidFill>
              </a:defRPr>
            </a:pPr>
            <a:r>
              <a:rPr sz="1800">
                <a:solidFill>
                  <a:srgbClr val="D95F45"/>
                </a:solidFill>
              </a:rPr>
              <a:t>• 一份异常码对照表，给电气与维护人员直接使用。</a:t>
            </a:r>
          </a:p>
        </p:txBody>
      </p:sp>
      <p:sp>
        <p:nvSpPr>
          <p:cNvPr id="18" name="bullet-3">
            <a:extLst xmlns:a="http://schemas.openxmlformats.org/drawingml/2006/main">
              <a:ext uri="{FF2B5EF4-FFF2-40B4-BE49-F238E27FC236}">
                <a16:creationId xmlns:a16="http://schemas.microsoft.com/office/drawing/2014/main" id="{6A74A7BE-6794-4014-AC0C-661BE42B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5F45"/>
                </a:solidFill>
              </a:defRPr>
            </a:pPr>
            <a:r>
              <a:rPr sz="1800">
                <a:solidFill>
                  <a:srgbClr val="D95F45"/>
                </a:solidFill>
              </a:rPr>
              <a:t>• 一份联调脚本，覆盖读结果、写 JOB、回读校验、异常复位和条码触发。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3E50ADE4-C36D-4D3D-A59B-CD3B8D6D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4845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627F"/>
                </a:solidFill>
              </a:defRPr>
            </a:pPr>
            <a:r>
              <a:rPr sz="900">
                <a:solidFill>
                  <a:srgbClr val="4B627F"/>
                </a:solidFill>
              </a:rPr>
              <a:t>来源：MODBUS_20241227_V1.08(1).pdf，文档版本 V1.08，发布日期 2024/12/25。 说明：本页为基于 PDF 的工程化建议，便于项目决策与排期。</a:t>
            </a:r>
          </a:p>
        </p:txBody>
      </p:sp>
    </p:spTree>
    <p:extLst>
      <p:ext uri="{BB962C8B-B14F-4D97-AF65-F5344CB8AC3E}">
        <p14:creationId xmlns:p14="http://schemas.microsoft.com/office/powerpoint/2010/main" val="1048579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2026-05-01T03:52:56.4000000Z</dcterms:created>
  <dcterms:modified xsi:type="dcterms:W3CDTF">2026-05-01T03:52:56.4000000Z</dcterms:modified>
</coreProperties>
</file>